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_rels/presentation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media/image1.png" ContentType="image/png"/>
  <Override PartName="/ppt/media/image2.png" ContentType="image/png"/>
  <Override PartName="/ppt/media/image3.png" ContentType="image/png"/>
  <Override PartName="/ppt/media/image4.png" ContentType="image/png"/>
  <Override PartName="/ppt/media/image5.png" ContentType="image/png"/>
  <Override PartName="/ppt/media/image10.png" ContentType="image/png"/>
  <Override PartName="/ppt/media/image6.png" ContentType="image/png"/>
  <Override PartName="/ppt/media/image11.png" ContentType="image/png"/>
  <Override PartName="/ppt/media/image7.png" ContentType="image/png"/>
  <Override PartName="/ppt/media/image8.png" ContentType="image/png"/>
  <Override PartName="/ppt/media/image9.png" ContentType="image/png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D47BB8C-A9F1-4E58-86C9-DF2B0B4EA5C3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A824A00-B366-4E53-9480-F9B8AB27D5EE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BF9E128-0C24-4594-8B76-1CB2665FD9AB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DF44E79-A776-40E5-8531-806912DC45BC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F07BA4C-11EA-4CCB-B20E-56519D58F23A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ubTitle"/>
          </p:nvPr>
        </p:nvSpPr>
        <p:spPr>
          <a:xfrm>
            <a:off x="609480" y="273600"/>
            <a:ext cx="10972080" cy="5307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9346397-3669-4203-8FA2-F3FE61ECDBFE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8E3E091-C735-4C87-B33D-D6EE6D7C02C4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20E32CB-6C84-4275-A026-27FF2EF49998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109720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C2C2EC4-3D42-4A79-BB38-A4CEBDD8300F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0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609480" y="3682080"/>
            <a:ext cx="109720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E07FBE0-69FA-4B62-87F9-99A34D2672CF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D43B255-B37E-4876-BA3A-56333B6F58C7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35326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319280" y="1604520"/>
            <a:ext cx="35326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8028720" y="1604520"/>
            <a:ext cx="35326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609480" y="3682080"/>
            <a:ext cx="35326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/>
          </p:nvPr>
        </p:nvSpPr>
        <p:spPr>
          <a:xfrm>
            <a:off x="4319280" y="3682080"/>
            <a:ext cx="35326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0" name="PlaceHolder 7"/>
          <p:cNvSpPr>
            <a:spLocks noGrp="1"/>
          </p:cNvSpPr>
          <p:nvPr>
            <p:ph/>
          </p:nvPr>
        </p:nvSpPr>
        <p:spPr>
          <a:xfrm>
            <a:off x="8028720" y="3682080"/>
            <a:ext cx="35326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DF3CC7B-AABA-4464-9F17-DDDC1A1C5F42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>
              <a:lnSpc>
                <a:spcPct val="100000"/>
              </a:lnSpc>
              <a:buNone/>
              <a:defRPr b="0" lang="en-US" sz="1200" spc="-1" strike="noStrike">
                <a:solidFill>
                  <a:srgbClr val="8b8b8b"/>
                </a:solidFill>
                <a:latin typeface="Calibri"/>
              </a:defRPr>
            </a:lvl1pPr>
          </a:lstStyle>
          <a:p>
            <a:pPr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rgbClr val="8b8b8b"/>
                </a:solidFill>
                <a:latin typeface="Calibri"/>
              </a:rPr>
              <a:t>&lt;date/time&gt;</a:t>
            </a:r>
            <a:endParaRPr b="0" lang="en-US" sz="1200" spc="-1" strike="noStrike">
              <a:latin typeface="Times New Roman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algn="ctr">
              <a:buNone/>
              <a:defRPr b="0" lang="en-US" sz="1400" spc="-1" strike="noStrike">
                <a:latin typeface="Times New Roman"/>
              </a:defRPr>
            </a:lvl1pPr>
          </a:lstStyle>
          <a:p>
            <a:pPr algn="ctr">
              <a:buNone/>
            </a:pPr>
            <a:r>
              <a:rPr b="0" lang="en-US" sz="1400" spc="-1" strike="noStrike">
                <a:latin typeface="Times New Roman"/>
              </a:rPr>
              <a:t>&lt;footer&gt;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8b8b8b"/>
                </a:solidFill>
                <a:latin typeface="Calibri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825A1830-6864-4317-91D7-CD52E68146A9}" type="slidenum">
              <a:rPr b="0" lang="en-US" sz="1200" spc="-1" strike="noStrike">
                <a:solidFill>
                  <a:srgbClr val="8b8b8b"/>
                </a:solidFill>
                <a:latin typeface="Calibri"/>
              </a:rPr>
              <a:t>&lt;number&gt;</a:t>
            </a:fld>
            <a:endParaRPr b="0" lang="en-US" sz="1200" spc="-1" strike="noStrike"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rgbClr val="000000"/>
                </a:solidFill>
                <a:latin typeface="Calibri"/>
              </a:rPr>
              <a:t>Second Outline Level</a:t>
            </a:r>
            <a:endParaRPr b="0" lang="en-US" sz="2400" spc="-1" strike="noStrike">
              <a:solidFill>
                <a:srgbClr val="000000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Third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image" Target="../media/image5.png"/><Relationship Id="rId3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image" Target="../media/image10.png"/><Relationship Id="rId3" Type="http://schemas.openxmlformats.org/officeDocument/2006/relationships/image" Target="../media/image11.png"/><Relationship Id="rId4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Rectangle 1"/>
          <p:cNvSpPr/>
          <p:nvPr/>
        </p:nvSpPr>
        <p:spPr>
          <a:xfrm>
            <a:off x="0" y="0"/>
            <a:ext cx="12191400" cy="914040"/>
          </a:xfrm>
          <a:prstGeom prst="rect">
            <a:avLst/>
          </a:prstGeom>
          <a:solidFill>
            <a:srgbClr val="1b2a4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42" name="TextBox 2"/>
          <p:cNvSpPr/>
          <p:nvPr/>
        </p:nvSpPr>
        <p:spPr>
          <a:xfrm>
            <a:off x="548640" y="109800"/>
            <a:ext cx="9143640" cy="551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ts val="3640"/>
              </a:lnSpc>
              <a:buNone/>
            </a:pPr>
            <a:r>
              <a:rPr b="1" lang="en-US" sz="2800" spc="-1" strike="noStrike">
                <a:solidFill>
                  <a:srgbClr val="ffffff"/>
                </a:solidFill>
                <a:latin typeface="Calibri"/>
              </a:rPr>
              <a:t>Hunt Effect </a:t>
            </a:r>
            <a:r>
              <a:rPr b="1" lang="zh-CN" sz="2800" spc="-1" strike="noStrike">
                <a:solidFill>
                  <a:srgbClr val="ffffff"/>
                </a:solidFill>
                <a:latin typeface="Calibri"/>
              </a:rPr>
              <a:t>因果推导链（</a:t>
            </a:r>
            <a:r>
              <a:rPr b="1" lang="en-US" sz="2800" spc="-1" strike="noStrike">
                <a:solidFill>
                  <a:srgbClr val="ffffff"/>
                </a:solidFill>
                <a:latin typeface="Calibri"/>
              </a:rPr>
              <a:t>1/2</a:t>
            </a:r>
            <a:r>
              <a:rPr b="1" lang="zh-CN" sz="2800" spc="-1" strike="noStrike">
                <a:solidFill>
                  <a:srgbClr val="ffffff"/>
                </a:solidFill>
                <a:latin typeface="Calibri"/>
              </a:rPr>
              <a:t>）</a:t>
            </a:r>
            <a:endParaRPr b="0" lang="en-US" sz="2800" spc="-1" strike="noStrike">
              <a:latin typeface="Arial"/>
            </a:endParaRPr>
          </a:p>
        </p:txBody>
      </p:sp>
      <p:sp>
        <p:nvSpPr>
          <p:cNvPr id="43" name="TextBox 3"/>
          <p:cNvSpPr/>
          <p:nvPr/>
        </p:nvSpPr>
        <p:spPr>
          <a:xfrm>
            <a:off x="548640" y="548640"/>
            <a:ext cx="9143640" cy="30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ts val="1689"/>
              </a:lnSpc>
              <a:buNone/>
            </a:pPr>
            <a:r>
              <a:rPr b="0" lang="en-US" sz="1300" spc="-1" strike="noStrike">
                <a:solidFill>
                  <a:srgbClr val="aabbcc"/>
                </a:solidFill>
                <a:latin typeface="Calibri"/>
              </a:rPr>
              <a:t>L_W → F_L → </a:t>
            </a:r>
            <a:r>
              <a:rPr b="0" lang="zh-CN" sz="1300" spc="-1" strike="noStrike">
                <a:solidFill>
                  <a:srgbClr val="aabbcc"/>
                </a:solidFill>
                <a:latin typeface="Calibri"/>
              </a:rPr>
              <a:t>锥体响应压缩 → 对立色信号  </a:t>
            </a:r>
            <a:r>
              <a:rPr b="0" lang="en-US" sz="1300" spc="-1" strike="noStrike">
                <a:solidFill>
                  <a:srgbClr val="aabbcc"/>
                </a:solidFill>
                <a:latin typeface="Calibri"/>
              </a:rPr>
              <a:t>|  CIECAM02 (CIE 159:2004)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44" name="TextBox 4"/>
          <p:cNvSpPr/>
          <p:nvPr/>
        </p:nvSpPr>
        <p:spPr>
          <a:xfrm>
            <a:off x="11247120" y="6446520"/>
            <a:ext cx="731160" cy="271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>
              <a:lnSpc>
                <a:spcPts val="1429"/>
              </a:lnSpc>
              <a:buNone/>
            </a:pPr>
            <a:r>
              <a:rPr b="0" lang="en-US" sz="1100" spc="-1" strike="noStrike">
                <a:solidFill>
                  <a:srgbClr val="999999"/>
                </a:solidFill>
                <a:latin typeface="Calibri"/>
              </a:rPr>
              <a:t>1/2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45" name="Rectangle 5"/>
          <p:cNvSpPr/>
          <p:nvPr/>
        </p:nvSpPr>
        <p:spPr>
          <a:xfrm>
            <a:off x="594360" y="1188720"/>
            <a:ext cx="50400" cy="914040"/>
          </a:xfrm>
          <a:prstGeom prst="rect">
            <a:avLst/>
          </a:prstGeom>
          <a:solidFill>
            <a:srgbClr val="cc3333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46" name="TextBox 6"/>
          <p:cNvSpPr/>
          <p:nvPr/>
        </p:nvSpPr>
        <p:spPr>
          <a:xfrm>
            <a:off x="822960" y="1188720"/>
            <a:ext cx="10515240" cy="387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ts val="2341"/>
              </a:lnSpc>
              <a:buNone/>
            </a:pPr>
            <a:r>
              <a:rPr b="1" lang="en-US" sz="1800" spc="-1" strike="noStrike">
                <a:solidFill>
                  <a:srgbClr val="1b2a4a"/>
                </a:solidFill>
                <a:latin typeface="Calibri"/>
              </a:rPr>
              <a:t>① </a:t>
            </a:r>
            <a:r>
              <a:rPr b="1" lang="zh-CN" sz="1800" spc="-1" strike="noStrike">
                <a:solidFill>
                  <a:srgbClr val="1b2a4a"/>
                </a:solidFill>
                <a:latin typeface="Calibri"/>
              </a:rPr>
              <a:t>适应亮度与亮度级因子</a:t>
            </a:r>
            <a:endParaRPr b="0" lang="en-US" sz="1800" spc="-1" strike="noStrike">
              <a:latin typeface="Arial"/>
            </a:endParaRPr>
          </a:p>
        </p:txBody>
      </p:sp>
      <p:pic>
        <p:nvPicPr>
          <p:cNvPr id="47" name="Picture 7" descr="image.png"/>
          <p:cNvPicPr/>
          <p:nvPr/>
        </p:nvPicPr>
        <p:blipFill>
          <a:blip r:embed="rId1"/>
          <a:stretch/>
        </p:blipFill>
        <p:spPr>
          <a:xfrm>
            <a:off x="822960" y="1536120"/>
            <a:ext cx="10515240" cy="772200"/>
          </a:xfrm>
          <a:prstGeom prst="rect">
            <a:avLst/>
          </a:prstGeom>
          <a:ln w="0">
            <a:noFill/>
          </a:ln>
        </p:spPr>
      </p:pic>
      <p:sp>
        <p:nvSpPr>
          <p:cNvPr id="48" name="TextBox 8"/>
          <p:cNvSpPr/>
          <p:nvPr/>
        </p:nvSpPr>
        <p:spPr>
          <a:xfrm>
            <a:off x="822960" y="2039040"/>
            <a:ext cx="10515240" cy="37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ts val="2251"/>
              </a:lnSpc>
              <a:spcAft>
                <a:spcPts val="300"/>
              </a:spcAft>
              <a:buNone/>
            </a:pPr>
            <a:r>
              <a:rPr b="1" lang="en-US" sz="1500" spc="-1" strike="noStrike">
                <a:solidFill>
                  <a:srgbClr val="8b0000"/>
                </a:solidFill>
                <a:latin typeface="Calibri"/>
              </a:rPr>
              <a:t>→  </a:t>
            </a:r>
            <a:r>
              <a:rPr b="0" lang="zh-CN" sz="1500" spc="-1" strike="noStrike">
                <a:solidFill>
                  <a:srgbClr val="444444"/>
                </a:solidFill>
                <a:latin typeface="Calibri"/>
              </a:rPr>
              <a:t>更亮的背景亮度  →  更大的 </a:t>
            </a:r>
            <a:r>
              <a:rPr b="0" lang="en-US" sz="1500" spc="-1" strike="noStrike">
                <a:solidFill>
                  <a:srgbClr val="444444"/>
                </a:solidFill>
                <a:latin typeface="Calibri"/>
              </a:rPr>
              <a:t>L_A  →  </a:t>
            </a:r>
            <a:r>
              <a:rPr b="0" lang="zh-CN" sz="1500" spc="-1" strike="noStrike">
                <a:solidFill>
                  <a:srgbClr val="444444"/>
                </a:solidFill>
                <a:latin typeface="Calibri"/>
              </a:rPr>
              <a:t>更大的 </a:t>
            </a:r>
            <a:r>
              <a:rPr b="0" lang="en-US" sz="1500" spc="-1" strike="noStrike">
                <a:solidFill>
                  <a:srgbClr val="444444"/>
                </a:solidFill>
                <a:latin typeface="Calibri"/>
              </a:rPr>
              <a:t>F_L</a:t>
            </a:r>
            <a:endParaRPr b="0" lang="en-US" sz="1500" spc="-1" strike="noStrike">
              <a:latin typeface="Arial"/>
            </a:endParaRPr>
          </a:p>
        </p:txBody>
      </p:sp>
      <p:sp>
        <p:nvSpPr>
          <p:cNvPr id="49" name="Rectangle 9"/>
          <p:cNvSpPr/>
          <p:nvPr/>
        </p:nvSpPr>
        <p:spPr>
          <a:xfrm>
            <a:off x="822960" y="2450520"/>
            <a:ext cx="10515240" cy="12240"/>
          </a:xfrm>
          <a:prstGeom prst="rect">
            <a:avLst/>
          </a:prstGeom>
          <a:solidFill>
            <a:srgbClr val="e0e0e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50" name="Rectangle 10"/>
          <p:cNvSpPr/>
          <p:nvPr/>
        </p:nvSpPr>
        <p:spPr>
          <a:xfrm>
            <a:off x="594360" y="2679120"/>
            <a:ext cx="50400" cy="1188360"/>
          </a:xfrm>
          <a:prstGeom prst="rect">
            <a:avLst/>
          </a:prstGeom>
          <a:solidFill>
            <a:srgbClr val="cc3333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51" name="TextBox 11"/>
          <p:cNvSpPr/>
          <p:nvPr/>
        </p:nvSpPr>
        <p:spPr>
          <a:xfrm>
            <a:off x="822960" y="2679120"/>
            <a:ext cx="10515240" cy="387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ts val="2341"/>
              </a:lnSpc>
              <a:buNone/>
            </a:pPr>
            <a:r>
              <a:rPr b="1" lang="en-US" sz="1800" spc="-1" strike="noStrike">
                <a:solidFill>
                  <a:srgbClr val="1b2a4a"/>
                </a:solidFill>
                <a:latin typeface="Calibri"/>
              </a:rPr>
              <a:t>② </a:t>
            </a:r>
            <a:r>
              <a:rPr b="1" lang="zh-CN" sz="1800" spc="-1" strike="noStrike">
                <a:solidFill>
                  <a:srgbClr val="1b2a4a"/>
                </a:solidFill>
                <a:latin typeface="Calibri"/>
              </a:rPr>
              <a:t>非线性响应压缩 </a:t>
            </a:r>
            <a:r>
              <a:rPr b="1" lang="en-US" sz="1800" spc="-1" strike="noStrike">
                <a:solidFill>
                  <a:srgbClr val="1b2a4a"/>
                </a:solidFill>
                <a:latin typeface="Calibri"/>
              </a:rPr>
              <a:t>R_a'</a:t>
            </a:r>
            <a:endParaRPr b="0" lang="en-US" sz="1800" spc="-1" strike="noStrike">
              <a:latin typeface="Arial"/>
            </a:endParaRPr>
          </a:p>
        </p:txBody>
      </p:sp>
      <p:pic>
        <p:nvPicPr>
          <p:cNvPr id="52" name="Picture 12" descr="image.png"/>
          <p:cNvPicPr/>
          <p:nvPr/>
        </p:nvPicPr>
        <p:blipFill>
          <a:blip r:embed="rId2"/>
          <a:stretch/>
        </p:blipFill>
        <p:spPr>
          <a:xfrm>
            <a:off x="822960" y="3026520"/>
            <a:ext cx="8686440" cy="850680"/>
          </a:xfrm>
          <a:prstGeom prst="rect">
            <a:avLst/>
          </a:prstGeom>
          <a:ln w="0">
            <a:noFill/>
          </a:ln>
        </p:spPr>
      </p:pic>
      <p:sp>
        <p:nvSpPr>
          <p:cNvPr id="53" name="TextBox 13"/>
          <p:cNvSpPr/>
          <p:nvPr/>
        </p:nvSpPr>
        <p:spPr>
          <a:xfrm>
            <a:off x="822960" y="3575160"/>
            <a:ext cx="10515240" cy="37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ts val="2251"/>
              </a:lnSpc>
              <a:spcAft>
                <a:spcPts val="300"/>
              </a:spcAft>
              <a:buNone/>
            </a:pPr>
            <a:r>
              <a:rPr b="1" lang="en-US" sz="1500" spc="-1" strike="noStrike">
                <a:solidFill>
                  <a:srgbClr val="8b0000"/>
                </a:solidFill>
                <a:latin typeface="Calibri"/>
              </a:rPr>
              <a:t>→  </a:t>
            </a:r>
            <a:r>
              <a:rPr b="0" lang="zh-CN" sz="1500" spc="-1" strike="noStrike">
                <a:solidFill>
                  <a:srgbClr val="444444"/>
                </a:solidFill>
                <a:latin typeface="Calibri"/>
              </a:rPr>
              <a:t>更大的 </a:t>
            </a:r>
            <a:r>
              <a:rPr b="0" lang="en-US" sz="1500" spc="-1" strike="noStrike">
                <a:solidFill>
                  <a:srgbClr val="444444"/>
                </a:solidFill>
                <a:latin typeface="Calibri"/>
              </a:rPr>
              <a:t>F_L  →  </a:t>
            </a:r>
            <a:r>
              <a:rPr b="0" lang="zh-CN" sz="1500" spc="-1" strike="noStrike">
                <a:solidFill>
                  <a:srgbClr val="444444"/>
                </a:solidFill>
                <a:latin typeface="Calibri"/>
              </a:rPr>
              <a:t>压缩函数输入增大（</a:t>
            </a:r>
            <a:r>
              <a:rPr b="0" lang="en-US" sz="1500" spc="-1" strike="noStrike">
                <a:solidFill>
                  <a:srgbClr val="444444"/>
                </a:solidFill>
                <a:latin typeface="Calibri"/>
              </a:rPr>
              <a:t>f </a:t>
            </a:r>
            <a:r>
              <a:rPr b="0" lang="zh-CN" sz="1500" spc="-1" strike="noStrike">
                <a:solidFill>
                  <a:srgbClr val="444444"/>
                </a:solidFill>
                <a:latin typeface="Calibri"/>
              </a:rPr>
              <a:t>单调递增）→  每个压缩后锥体响应都增大</a:t>
            </a:r>
            <a:endParaRPr b="0" lang="en-US" sz="1500" spc="-1" strike="noStrike">
              <a:latin typeface="Arial"/>
            </a:endParaRPr>
          </a:p>
        </p:txBody>
      </p:sp>
      <p:sp>
        <p:nvSpPr>
          <p:cNvPr id="54" name="Rectangle 14"/>
          <p:cNvSpPr/>
          <p:nvPr/>
        </p:nvSpPr>
        <p:spPr>
          <a:xfrm>
            <a:off x="822960" y="4032360"/>
            <a:ext cx="10515240" cy="12240"/>
          </a:xfrm>
          <a:prstGeom prst="rect">
            <a:avLst/>
          </a:prstGeom>
          <a:solidFill>
            <a:srgbClr val="e0e0e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55" name="Rectangle 15"/>
          <p:cNvSpPr/>
          <p:nvPr/>
        </p:nvSpPr>
        <p:spPr>
          <a:xfrm>
            <a:off x="594360" y="4260960"/>
            <a:ext cx="50400" cy="1279800"/>
          </a:xfrm>
          <a:prstGeom prst="rect">
            <a:avLst/>
          </a:prstGeom>
          <a:solidFill>
            <a:srgbClr val="cc3333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56" name="TextBox 16"/>
          <p:cNvSpPr/>
          <p:nvPr/>
        </p:nvSpPr>
        <p:spPr>
          <a:xfrm>
            <a:off x="822960" y="4260960"/>
            <a:ext cx="10515240" cy="387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ts val="2341"/>
              </a:lnSpc>
              <a:buNone/>
            </a:pPr>
            <a:r>
              <a:rPr b="1" lang="en-US" sz="1800" spc="-1" strike="noStrike">
                <a:solidFill>
                  <a:srgbClr val="1b2a4a"/>
                </a:solidFill>
                <a:latin typeface="Calibri"/>
              </a:rPr>
              <a:t>③ </a:t>
            </a:r>
            <a:r>
              <a:rPr b="1" lang="zh-CN" sz="1800" spc="-1" strike="noStrike">
                <a:solidFill>
                  <a:srgbClr val="1b2a4a"/>
                </a:solidFill>
                <a:latin typeface="Calibri"/>
              </a:rPr>
              <a:t>对立色信号 </a:t>
            </a:r>
            <a:r>
              <a:rPr b="1" lang="en-US" sz="1800" spc="-1" strike="noStrike">
                <a:solidFill>
                  <a:srgbClr val="1b2a4a"/>
                </a:solidFill>
                <a:latin typeface="Calibri"/>
              </a:rPr>
              <a:t>a, b</a:t>
            </a:r>
            <a:endParaRPr b="0" lang="en-US" sz="1800" spc="-1" strike="noStrike">
              <a:latin typeface="Arial"/>
            </a:endParaRPr>
          </a:p>
        </p:txBody>
      </p:sp>
      <p:pic>
        <p:nvPicPr>
          <p:cNvPr id="57" name="Picture 17" descr="image.png"/>
          <p:cNvPicPr/>
          <p:nvPr/>
        </p:nvPicPr>
        <p:blipFill>
          <a:blip r:embed="rId3"/>
          <a:stretch/>
        </p:blipFill>
        <p:spPr>
          <a:xfrm>
            <a:off x="822960" y="4608720"/>
            <a:ext cx="9143640" cy="731520"/>
          </a:xfrm>
          <a:prstGeom prst="rect">
            <a:avLst/>
          </a:prstGeom>
          <a:ln w="0">
            <a:noFill/>
          </a:ln>
        </p:spPr>
      </p:pic>
      <p:sp>
        <p:nvSpPr>
          <p:cNvPr id="58" name="TextBox 18"/>
          <p:cNvSpPr/>
          <p:nvPr/>
        </p:nvSpPr>
        <p:spPr>
          <a:xfrm>
            <a:off x="822960" y="5157360"/>
            <a:ext cx="10515240" cy="1023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ts val="2251"/>
              </a:lnSpc>
              <a:spcAft>
                <a:spcPts val="300"/>
              </a:spcAft>
              <a:buNone/>
            </a:pPr>
            <a:r>
              <a:rPr b="1" lang="en-US" sz="1500" spc="-1" strike="noStrike">
                <a:solidFill>
                  <a:srgbClr val="8b0000"/>
                </a:solidFill>
                <a:latin typeface="Calibri"/>
              </a:rPr>
              <a:t>→  </a:t>
            </a:r>
            <a:r>
              <a:rPr b="0" lang="en-US" sz="1500" spc="-1" strike="noStrike">
                <a:solidFill>
                  <a:srgbClr val="444444"/>
                </a:solidFill>
                <a:latin typeface="Calibri"/>
              </a:rPr>
              <a:t>a, b </a:t>
            </a:r>
            <a:r>
              <a:rPr b="0" lang="zh-CN" sz="1500" spc="-1" strike="noStrike">
                <a:solidFill>
                  <a:srgbClr val="444444"/>
                </a:solidFill>
                <a:latin typeface="Calibri"/>
              </a:rPr>
              <a:t>是 </a:t>
            </a:r>
            <a:r>
              <a:rPr b="0" lang="en-US" sz="1500" spc="-1" strike="noStrike">
                <a:solidFill>
                  <a:srgbClr val="444444"/>
                </a:solidFill>
                <a:latin typeface="Calibri"/>
              </a:rPr>
              <a:t>R_a', G_a', B_a' </a:t>
            </a:r>
            <a:r>
              <a:rPr b="0" lang="zh-CN" sz="1500" spc="-1" strike="noStrike">
                <a:solidFill>
                  <a:srgbClr val="444444"/>
                </a:solidFill>
                <a:latin typeface="Calibri"/>
              </a:rPr>
              <a:t>的线性组合</a:t>
            </a:r>
            <a:endParaRPr b="0" lang="en-US" sz="1500" spc="-1" strike="noStrike">
              <a:latin typeface="Arial"/>
            </a:endParaRPr>
          </a:p>
          <a:p>
            <a:pPr>
              <a:lnSpc>
                <a:spcPts val="2251"/>
              </a:lnSpc>
              <a:spcAft>
                <a:spcPts val="300"/>
              </a:spcAft>
              <a:buNone/>
            </a:pPr>
            <a:r>
              <a:rPr b="1" lang="en-US" sz="1500" spc="-1" strike="noStrike">
                <a:solidFill>
                  <a:srgbClr val="8b0000"/>
                </a:solidFill>
                <a:latin typeface="Calibri"/>
              </a:rPr>
              <a:t>→  </a:t>
            </a:r>
            <a:r>
              <a:rPr b="0" lang="en-US" sz="1500" spc="-1" strike="noStrike">
                <a:solidFill>
                  <a:srgbClr val="444444"/>
                </a:solidFill>
                <a:latin typeface="Calibri"/>
              </a:rPr>
              <a:t>F_L </a:t>
            </a:r>
            <a:r>
              <a:rPr b="0" lang="zh-CN" sz="1500" spc="-1" strike="noStrike">
                <a:solidFill>
                  <a:srgbClr val="444444"/>
                </a:solidFill>
                <a:latin typeface="Calibri"/>
              </a:rPr>
              <a:t>增大使每个锥体响应增大，但非线性压缩下各通道缩放比不同（</a:t>
            </a:r>
            <a:r>
              <a:rPr b="1" lang="en-US" sz="1500" spc="-1" strike="noStrike">
                <a:solidFill>
                  <a:srgbClr val="2e5e8e"/>
                </a:solidFill>
                <a:latin typeface="Calibri"/>
              </a:rPr>
              <a:t>r_R ≠ r_G ≠ r_B</a:t>
            </a:r>
            <a:r>
              <a:rPr b="0" lang="zh-CN" sz="1500" spc="-1" strike="noStrike">
                <a:solidFill>
                  <a:srgbClr val="444444"/>
                </a:solidFill>
                <a:latin typeface="Calibri"/>
              </a:rPr>
              <a:t>）</a:t>
            </a:r>
            <a:endParaRPr b="0" lang="en-US" sz="1500" spc="-1" strike="noStrike">
              <a:latin typeface="Arial"/>
            </a:endParaRPr>
          </a:p>
          <a:p>
            <a:pPr>
              <a:lnSpc>
                <a:spcPts val="2251"/>
              </a:lnSpc>
              <a:spcAft>
                <a:spcPts val="300"/>
              </a:spcAft>
              <a:buNone/>
            </a:pPr>
            <a:r>
              <a:rPr b="1" lang="en-US" sz="1500" spc="-1" strike="noStrike">
                <a:solidFill>
                  <a:srgbClr val="8b0000"/>
                </a:solidFill>
                <a:latin typeface="Calibri"/>
              </a:rPr>
              <a:t>→  </a:t>
            </a:r>
            <a:r>
              <a:rPr b="0" lang="en-US" sz="1500" spc="-1" strike="noStrike">
                <a:solidFill>
                  <a:srgbClr val="444444"/>
                </a:solidFill>
                <a:latin typeface="Calibri"/>
              </a:rPr>
              <a:t>|a|, |b| </a:t>
            </a:r>
            <a:r>
              <a:rPr b="0" lang="zh-CN" sz="1500" spc="-1" strike="noStrike">
                <a:solidFill>
                  <a:srgbClr val="444444"/>
                </a:solidFill>
                <a:latin typeface="Calibri"/>
              </a:rPr>
              <a:t>通常增大（非严格必然），但与无色彩信号的</a:t>
            </a:r>
            <a:r>
              <a:rPr b="1" lang="zh-CN" sz="1500" spc="-1" strike="noStrike">
                <a:solidFill>
                  <a:srgbClr val="2e5e8e"/>
                </a:solidFill>
                <a:latin typeface="Calibri"/>
              </a:rPr>
              <a:t>比值近似不变</a:t>
            </a:r>
            <a:endParaRPr b="0" lang="en-US" sz="15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Rectangle 1"/>
          <p:cNvSpPr/>
          <p:nvPr/>
        </p:nvSpPr>
        <p:spPr>
          <a:xfrm>
            <a:off x="0" y="0"/>
            <a:ext cx="12191400" cy="914040"/>
          </a:xfrm>
          <a:prstGeom prst="rect">
            <a:avLst/>
          </a:prstGeom>
          <a:solidFill>
            <a:srgbClr val="1b2a4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60" name="TextBox 2"/>
          <p:cNvSpPr/>
          <p:nvPr/>
        </p:nvSpPr>
        <p:spPr>
          <a:xfrm>
            <a:off x="548640" y="109800"/>
            <a:ext cx="9143640" cy="551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ts val="3640"/>
              </a:lnSpc>
              <a:buNone/>
            </a:pPr>
            <a:r>
              <a:rPr b="1" lang="en-US" sz="2800" spc="-1" strike="noStrike">
                <a:solidFill>
                  <a:srgbClr val="ffffff"/>
                </a:solidFill>
                <a:latin typeface="Calibri"/>
              </a:rPr>
              <a:t>Hunt Effect </a:t>
            </a:r>
            <a:r>
              <a:rPr b="1" lang="zh-CN" sz="2800" spc="-1" strike="noStrike">
                <a:solidFill>
                  <a:srgbClr val="ffffff"/>
                </a:solidFill>
                <a:latin typeface="Calibri"/>
              </a:rPr>
              <a:t>因果推导链（</a:t>
            </a:r>
            <a:r>
              <a:rPr b="1" lang="en-US" sz="2800" spc="-1" strike="noStrike">
                <a:solidFill>
                  <a:srgbClr val="ffffff"/>
                </a:solidFill>
                <a:latin typeface="Calibri"/>
              </a:rPr>
              <a:t>2/2</a:t>
            </a:r>
            <a:r>
              <a:rPr b="1" lang="zh-CN" sz="2800" spc="-1" strike="noStrike">
                <a:solidFill>
                  <a:srgbClr val="ffffff"/>
                </a:solidFill>
                <a:latin typeface="Calibri"/>
              </a:rPr>
              <a:t>）</a:t>
            </a:r>
            <a:endParaRPr b="0" lang="en-US" sz="2800" spc="-1" strike="noStrike">
              <a:latin typeface="Arial"/>
            </a:endParaRPr>
          </a:p>
        </p:txBody>
      </p:sp>
      <p:sp>
        <p:nvSpPr>
          <p:cNvPr id="61" name="TextBox 3"/>
          <p:cNvSpPr/>
          <p:nvPr/>
        </p:nvSpPr>
        <p:spPr>
          <a:xfrm>
            <a:off x="548640" y="548640"/>
            <a:ext cx="9143640" cy="30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ts val="1689"/>
              </a:lnSpc>
              <a:buNone/>
            </a:pPr>
            <a:r>
              <a:rPr b="0" lang="en-US" sz="1300" spc="-1" strike="noStrike">
                <a:solidFill>
                  <a:srgbClr val="aabbcc"/>
                </a:solidFill>
                <a:latin typeface="Calibri"/>
              </a:rPr>
              <a:t>Chroma C → Colorfulness M → </a:t>
            </a:r>
            <a:r>
              <a:rPr b="0" lang="zh-CN" sz="1300" spc="-1" strike="noStrike">
                <a:solidFill>
                  <a:srgbClr val="aabbcc"/>
                </a:solidFill>
                <a:latin typeface="Calibri"/>
              </a:rPr>
              <a:t>补偿方案  </a:t>
            </a:r>
            <a:r>
              <a:rPr b="0" lang="en-US" sz="1300" spc="-1" strike="noStrike">
                <a:solidFill>
                  <a:srgbClr val="aabbcc"/>
                </a:solidFill>
                <a:latin typeface="Calibri"/>
              </a:rPr>
              <a:t>|  CIECAM02 (CIE 159:2004)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62" name="TextBox 4"/>
          <p:cNvSpPr/>
          <p:nvPr/>
        </p:nvSpPr>
        <p:spPr>
          <a:xfrm>
            <a:off x="11247120" y="6446520"/>
            <a:ext cx="731160" cy="271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>
              <a:lnSpc>
                <a:spcPts val="1429"/>
              </a:lnSpc>
              <a:buNone/>
            </a:pPr>
            <a:r>
              <a:rPr b="0" lang="en-US" sz="1100" spc="-1" strike="noStrike">
                <a:solidFill>
                  <a:srgbClr val="999999"/>
                </a:solidFill>
                <a:latin typeface="Calibri"/>
              </a:rPr>
              <a:t>2/2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63" name="Rectangle 5"/>
          <p:cNvSpPr/>
          <p:nvPr/>
        </p:nvSpPr>
        <p:spPr>
          <a:xfrm>
            <a:off x="594360" y="1188720"/>
            <a:ext cx="50400" cy="1828440"/>
          </a:xfrm>
          <a:prstGeom prst="rect">
            <a:avLst/>
          </a:prstGeom>
          <a:solidFill>
            <a:srgbClr val="cc3333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64" name="TextBox 6"/>
          <p:cNvSpPr/>
          <p:nvPr/>
        </p:nvSpPr>
        <p:spPr>
          <a:xfrm>
            <a:off x="822960" y="1188720"/>
            <a:ext cx="10515240" cy="387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ts val="2341"/>
              </a:lnSpc>
              <a:buNone/>
            </a:pPr>
            <a:r>
              <a:rPr b="1" lang="en-US" sz="1800" spc="-1" strike="noStrike">
                <a:solidFill>
                  <a:srgbClr val="2e5e8e"/>
                </a:solidFill>
                <a:latin typeface="Calibri"/>
              </a:rPr>
              <a:t>④ </a:t>
            </a:r>
            <a:r>
              <a:rPr b="1" lang="en-US" sz="1800" spc="-1" strike="noStrike">
                <a:solidFill>
                  <a:srgbClr val="2e5e8e"/>
                </a:solidFill>
                <a:latin typeface="Calibri"/>
              </a:rPr>
              <a:t>Chroma C  ≈  </a:t>
            </a:r>
            <a:r>
              <a:rPr b="1" lang="zh-CN" sz="1800" spc="-1" strike="noStrike">
                <a:solidFill>
                  <a:srgbClr val="2e5e8e"/>
                </a:solidFill>
                <a:latin typeface="Calibri"/>
              </a:rPr>
              <a:t>常数</a:t>
            </a:r>
            <a:endParaRPr b="0" lang="en-US" sz="1800" spc="-1" strike="noStrike">
              <a:latin typeface="Arial"/>
            </a:endParaRPr>
          </a:p>
        </p:txBody>
      </p:sp>
      <p:pic>
        <p:nvPicPr>
          <p:cNvPr id="65" name="Picture 7" descr="image.png"/>
          <p:cNvPicPr/>
          <p:nvPr/>
        </p:nvPicPr>
        <p:blipFill>
          <a:blip r:embed="rId1"/>
          <a:stretch/>
        </p:blipFill>
        <p:spPr>
          <a:xfrm>
            <a:off x="457200" y="1554480"/>
            <a:ext cx="11429640" cy="882000"/>
          </a:xfrm>
          <a:prstGeom prst="rect">
            <a:avLst/>
          </a:prstGeom>
          <a:ln w="0">
            <a:noFill/>
          </a:ln>
        </p:spPr>
      </p:pic>
      <p:sp>
        <p:nvSpPr>
          <p:cNvPr id="66" name="TextBox 8"/>
          <p:cNvSpPr/>
          <p:nvPr/>
        </p:nvSpPr>
        <p:spPr>
          <a:xfrm>
            <a:off x="822960" y="2331720"/>
            <a:ext cx="10515240" cy="1023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ts val="2251"/>
              </a:lnSpc>
              <a:spcAft>
                <a:spcPts val="300"/>
              </a:spcAft>
              <a:buNone/>
            </a:pPr>
            <a:r>
              <a:rPr b="1" lang="en-US" sz="1500" spc="-1" strike="noStrike">
                <a:solidFill>
                  <a:srgbClr val="1b2a4a"/>
                </a:solidFill>
                <a:latin typeface="Calibri"/>
              </a:rPr>
              <a:t>t </a:t>
            </a:r>
            <a:r>
              <a:rPr b="1" lang="zh-CN" sz="1500" spc="-1" strike="noStrike">
                <a:solidFill>
                  <a:srgbClr val="1b2a4a"/>
                </a:solidFill>
                <a:latin typeface="Calibri"/>
              </a:rPr>
              <a:t>是比值：</a:t>
            </a:r>
            <a:r>
              <a:rPr b="0" lang="zh-CN" sz="1500" spc="-1" strike="noStrike">
                <a:solidFill>
                  <a:srgbClr val="444444"/>
                </a:solidFill>
                <a:latin typeface="Calibri"/>
              </a:rPr>
              <a:t>分子 √</a:t>
            </a:r>
            <a:r>
              <a:rPr b="0" lang="en-US" sz="1500" spc="-1" strike="noStrike">
                <a:solidFill>
                  <a:srgbClr val="444444"/>
                </a:solidFill>
                <a:latin typeface="Calibri"/>
              </a:rPr>
              <a:t>(a²+b²)</a:t>
            </a:r>
            <a:r>
              <a:rPr b="0" lang="zh-CN" sz="1500" spc="-1" strike="noStrike">
                <a:solidFill>
                  <a:srgbClr val="444444"/>
                </a:solidFill>
                <a:latin typeface="Calibri"/>
              </a:rPr>
              <a:t>（对立色信号幅度）</a:t>
            </a:r>
            <a:r>
              <a:rPr b="0" lang="en-US" sz="1500" spc="-1" strike="noStrike">
                <a:solidFill>
                  <a:srgbClr val="444444"/>
                </a:solidFill>
                <a:latin typeface="Calibri"/>
              </a:rPr>
              <a:t>/ </a:t>
            </a:r>
            <a:r>
              <a:rPr b="0" lang="zh-CN" sz="1500" spc="-1" strike="noStrike">
                <a:solidFill>
                  <a:srgbClr val="444444"/>
                </a:solidFill>
                <a:latin typeface="Calibri"/>
              </a:rPr>
              <a:t>分母 </a:t>
            </a:r>
            <a:r>
              <a:rPr b="0" lang="en-US" sz="1500" spc="-1" strike="noStrike">
                <a:solidFill>
                  <a:srgbClr val="444444"/>
                </a:solidFill>
                <a:latin typeface="Calibri"/>
              </a:rPr>
              <a:t>[R_a'+G_a'+(21/20)B_a']</a:t>
            </a:r>
            <a:r>
              <a:rPr b="0" lang="zh-CN" sz="1500" spc="-1" strike="noStrike">
                <a:solidFill>
                  <a:srgbClr val="444444"/>
                </a:solidFill>
                <a:latin typeface="Calibri"/>
              </a:rPr>
              <a:t>（锥体信号总量）</a:t>
            </a:r>
            <a:endParaRPr b="0" lang="en-US" sz="1500" spc="-1" strike="noStrike">
              <a:latin typeface="Arial"/>
            </a:endParaRPr>
          </a:p>
          <a:p>
            <a:pPr>
              <a:lnSpc>
                <a:spcPts val="2251"/>
              </a:lnSpc>
              <a:spcAft>
                <a:spcPts val="300"/>
              </a:spcAft>
              <a:buNone/>
            </a:pPr>
            <a:r>
              <a:rPr b="1" lang="en-US" sz="1500" spc="-1" strike="noStrike">
                <a:solidFill>
                  <a:srgbClr val="8b0000"/>
                </a:solidFill>
                <a:latin typeface="Calibri"/>
              </a:rPr>
              <a:t>→  </a:t>
            </a:r>
            <a:r>
              <a:rPr b="0" lang="zh-CN" sz="1500" spc="-1" strike="noStrike">
                <a:solidFill>
                  <a:srgbClr val="444444"/>
                </a:solidFill>
                <a:latin typeface="Calibri"/>
              </a:rPr>
              <a:t>分子和分母</a:t>
            </a:r>
            <a:r>
              <a:rPr b="1" lang="zh-CN" sz="1500" spc="-1" strike="noStrike">
                <a:solidFill>
                  <a:srgbClr val="8b0000"/>
                </a:solidFill>
                <a:latin typeface="Calibri"/>
              </a:rPr>
              <a:t>均随 </a:t>
            </a:r>
            <a:r>
              <a:rPr b="1" lang="en-US" sz="1500" spc="-1" strike="noStrike">
                <a:solidFill>
                  <a:srgbClr val="8b0000"/>
                </a:solidFill>
                <a:latin typeface="Calibri"/>
              </a:rPr>
              <a:t>F_L </a:t>
            </a:r>
            <a:r>
              <a:rPr b="1" lang="zh-CN" sz="1500" spc="-1" strike="noStrike">
                <a:solidFill>
                  <a:srgbClr val="8b0000"/>
                </a:solidFill>
                <a:latin typeface="Calibri"/>
              </a:rPr>
              <a:t>近似等比例缩放</a:t>
            </a:r>
            <a:r>
              <a:rPr b="0" lang="en-US" sz="1500" spc="-1" strike="noStrike">
                <a:solidFill>
                  <a:srgbClr val="444444"/>
                </a:solidFill>
                <a:latin typeface="Calibri"/>
              </a:rPr>
              <a:t>  →  比值 </a:t>
            </a:r>
            <a:r>
              <a:rPr b="0" lang="en-US" sz="1500" spc="-1" strike="noStrike">
                <a:solidFill>
                  <a:srgbClr val="444444"/>
                </a:solidFill>
                <a:latin typeface="Calibri"/>
              </a:rPr>
              <a:t>t ≈ </a:t>
            </a:r>
            <a:r>
              <a:rPr b="0" lang="zh-CN" sz="1500" spc="-1" strike="noStrike">
                <a:solidFill>
                  <a:srgbClr val="444444"/>
                </a:solidFill>
                <a:latin typeface="Calibri"/>
              </a:rPr>
              <a:t>常数</a:t>
            </a:r>
            <a:endParaRPr b="0" lang="en-US" sz="1500" spc="-1" strike="noStrike">
              <a:latin typeface="Arial"/>
            </a:endParaRPr>
          </a:p>
          <a:p>
            <a:pPr>
              <a:lnSpc>
                <a:spcPts val="2251"/>
              </a:lnSpc>
              <a:spcAft>
                <a:spcPts val="300"/>
              </a:spcAft>
              <a:buNone/>
            </a:pPr>
            <a:r>
              <a:rPr b="1" lang="en-US" sz="1500" spc="-1" strike="noStrike">
                <a:solidFill>
                  <a:srgbClr val="8b0000"/>
                </a:solidFill>
                <a:latin typeface="Calibri"/>
              </a:rPr>
              <a:t>→  </a:t>
            </a:r>
            <a:r>
              <a:rPr b="1" lang="en-US" sz="1500" spc="-1" strike="noStrike">
                <a:solidFill>
                  <a:srgbClr val="2e5e8e"/>
                </a:solidFill>
                <a:latin typeface="Calibri"/>
              </a:rPr>
              <a:t>C ≈ </a:t>
            </a:r>
            <a:r>
              <a:rPr b="1" lang="zh-CN" sz="1500" spc="-1" strike="noStrike">
                <a:solidFill>
                  <a:srgbClr val="2e5e8e"/>
                </a:solidFill>
                <a:latin typeface="Calibri"/>
              </a:rPr>
              <a:t>常数</a:t>
            </a:r>
            <a:r>
              <a:rPr b="0" lang="en-US" sz="1500" spc="-1" strike="noStrike">
                <a:solidFill>
                  <a:srgbClr val="444444"/>
                </a:solidFill>
                <a:latin typeface="Calibri"/>
              </a:rPr>
              <a:t>  —  </a:t>
            </a:r>
            <a:r>
              <a:rPr b="0" lang="en-US" sz="1500" spc="-1" strike="noStrike">
                <a:solidFill>
                  <a:srgbClr val="444444"/>
                </a:solidFill>
                <a:latin typeface="Calibri"/>
              </a:rPr>
              <a:t>C </a:t>
            </a:r>
            <a:r>
              <a:rPr b="0" lang="zh-CN" sz="1500" spc="-1" strike="noStrike">
                <a:solidFill>
                  <a:srgbClr val="444444"/>
                </a:solidFill>
                <a:latin typeface="Calibri"/>
              </a:rPr>
              <a:t>是</a:t>
            </a:r>
            <a:r>
              <a:rPr b="0" lang="en-US" sz="1500" spc="-1" strike="noStrike">
                <a:solidFill>
                  <a:srgbClr val="444444"/>
                </a:solidFill>
                <a:latin typeface="Calibri"/>
              </a:rPr>
              <a:t>"</a:t>
            </a:r>
            <a:r>
              <a:rPr b="0" lang="zh-CN" sz="1500" spc="-1" strike="noStrike">
                <a:solidFill>
                  <a:srgbClr val="444444"/>
                </a:solidFill>
                <a:latin typeface="Calibri"/>
              </a:rPr>
              <a:t>相对彩度</a:t>
            </a:r>
            <a:r>
              <a:rPr b="0" lang="en-US" sz="1500" spc="-1" strike="noStrike">
                <a:solidFill>
                  <a:srgbClr val="444444"/>
                </a:solidFill>
                <a:latin typeface="Calibri"/>
              </a:rPr>
              <a:t>"</a:t>
            </a:r>
            <a:r>
              <a:rPr b="0" lang="zh-CN" sz="1500" spc="-1" strike="noStrike">
                <a:solidFill>
                  <a:srgbClr val="444444"/>
                </a:solidFill>
                <a:latin typeface="Calibri"/>
              </a:rPr>
              <a:t>（相对于参考白亮度），设计为亮度不变</a:t>
            </a:r>
            <a:endParaRPr b="0" lang="en-US" sz="1500" spc="-1" strike="noStrike">
              <a:latin typeface="Arial"/>
            </a:endParaRPr>
          </a:p>
        </p:txBody>
      </p:sp>
      <p:sp>
        <p:nvSpPr>
          <p:cNvPr id="67" name="Rectangle 9"/>
          <p:cNvSpPr/>
          <p:nvPr/>
        </p:nvSpPr>
        <p:spPr>
          <a:xfrm>
            <a:off x="822960" y="3383280"/>
            <a:ext cx="10515240" cy="12240"/>
          </a:xfrm>
          <a:prstGeom prst="rect">
            <a:avLst/>
          </a:prstGeom>
          <a:solidFill>
            <a:srgbClr val="e0e0e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68" name="Rectangle 10"/>
          <p:cNvSpPr/>
          <p:nvPr/>
        </p:nvSpPr>
        <p:spPr>
          <a:xfrm>
            <a:off x="594360" y="3611880"/>
            <a:ext cx="50400" cy="1279800"/>
          </a:xfrm>
          <a:prstGeom prst="rect">
            <a:avLst/>
          </a:prstGeom>
          <a:solidFill>
            <a:srgbClr val="cc3333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69" name="TextBox 11"/>
          <p:cNvSpPr/>
          <p:nvPr/>
        </p:nvSpPr>
        <p:spPr>
          <a:xfrm>
            <a:off x="822960" y="3611880"/>
            <a:ext cx="10515240" cy="387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ts val="2341"/>
              </a:lnSpc>
              <a:buNone/>
            </a:pPr>
            <a:r>
              <a:rPr b="1" lang="en-US" sz="1800" spc="-1" strike="noStrike">
                <a:solidFill>
                  <a:srgbClr val="8b0000"/>
                </a:solidFill>
                <a:latin typeface="Calibri"/>
              </a:rPr>
              <a:t>⑤ </a:t>
            </a:r>
            <a:r>
              <a:rPr b="1" lang="en-US" sz="1800" spc="-1" strike="noStrike">
                <a:solidFill>
                  <a:srgbClr val="8b0000"/>
                </a:solidFill>
                <a:latin typeface="Calibri"/>
              </a:rPr>
              <a:t>Colorfulness M  ←  Hunt Effect </a:t>
            </a:r>
            <a:r>
              <a:rPr b="1" lang="zh-CN" sz="1800" spc="-1" strike="noStrike">
                <a:solidFill>
                  <a:srgbClr val="8b0000"/>
                </a:solidFill>
                <a:latin typeface="Calibri"/>
              </a:rPr>
              <a:t>体现于此</a:t>
            </a:r>
            <a:endParaRPr b="0" lang="en-US" sz="1800" spc="-1" strike="noStrike">
              <a:latin typeface="Arial"/>
            </a:endParaRPr>
          </a:p>
        </p:txBody>
      </p:sp>
      <p:pic>
        <p:nvPicPr>
          <p:cNvPr id="70" name="Picture 12" descr="image.png"/>
          <p:cNvPicPr/>
          <p:nvPr/>
        </p:nvPicPr>
        <p:blipFill>
          <a:blip r:embed="rId2"/>
          <a:stretch/>
        </p:blipFill>
        <p:spPr>
          <a:xfrm>
            <a:off x="822960" y="3977640"/>
            <a:ext cx="10515240" cy="772200"/>
          </a:xfrm>
          <a:prstGeom prst="rect">
            <a:avLst/>
          </a:prstGeom>
          <a:ln w="0">
            <a:noFill/>
          </a:ln>
        </p:spPr>
      </p:pic>
      <p:sp>
        <p:nvSpPr>
          <p:cNvPr id="71" name="TextBox 13"/>
          <p:cNvSpPr/>
          <p:nvPr/>
        </p:nvSpPr>
        <p:spPr>
          <a:xfrm>
            <a:off x="822960" y="4526280"/>
            <a:ext cx="10515240" cy="37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ts val="2251"/>
              </a:lnSpc>
              <a:spcAft>
                <a:spcPts val="300"/>
              </a:spcAft>
              <a:buNone/>
            </a:pPr>
            <a:r>
              <a:rPr b="1" lang="en-US" sz="1500" spc="-1" strike="noStrike">
                <a:solidFill>
                  <a:srgbClr val="8b0000"/>
                </a:solidFill>
                <a:latin typeface="Calibri"/>
              </a:rPr>
              <a:t>→  </a:t>
            </a:r>
            <a:r>
              <a:rPr b="0" lang="en-US" sz="1500" spc="-1" strike="noStrike">
                <a:solidFill>
                  <a:srgbClr val="444444"/>
                </a:solidFill>
                <a:latin typeface="Calibri"/>
              </a:rPr>
              <a:t>C ≈ </a:t>
            </a:r>
            <a:r>
              <a:rPr b="0" lang="zh-CN" sz="1500" spc="-1" strike="noStrike">
                <a:solidFill>
                  <a:srgbClr val="444444"/>
                </a:solidFill>
                <a:latin typeface="Calibri"/>
              </a:rPr>
              <a:t>不变，但 </a:t>
            </a:r>
            <a:r>
              <a:rPr b="1" lang="en-US" sz="1500" spc="-1" strike="noStrike">
                <a:solidFill>
                  <a:srgbClr val="8b0000"/>
                </a:solidFill>
                <a:latin typeface="Calibri"/>
              </a:rPr>
              <a:t>F_L </a:t>
            </a:r>
            <a:r>
              <a:rPr b="1" lang="zh-CN" sz="1500" spc="-1" strike="noStrike">
                <a:solidFill>
                  <a:srgbClr val="8b0000"/>
                </a:solidFill>
                <a:latin typeface="Calibri"/>
              </a:rPr>
              <a:t>直接以 </a:t>
            </a:r>
            <a:r>
              <a:rPr b="1" lang="en-US" sz="1500" spc="-1" strike="noStrike">
                <a:solidFill>
                  <a:srgbClr val="8b0000"/>
                </a:solidFill>
                <a:latin typeface="Calibri"/>
              </a:rPr>
              <a:t>F_L^0.25 </a:t>
            </a:r>
            <a:r>
              <a:rPr b="1" lang="zh-CN" sz="1500" spc="-1" strike="noStrike">
                <a:solidFill>
                  <a:srgbClr val="8b0000"/>
                </a:solidFill>
                <a:latin typeface="Calibri"/>
              </a:rPr>
              <a:t>放大 </a:t>
            </a:r>
            <a:r>
              <a:rPr b="1" lang="en-US" sz="1500" spc="-1" strike="noStrike">
                <a:solidFill>
                  <a:srgbClr val="8b0000"/>
                </a:solidFill>
                <a:latin typeface="Calibri"/>
              </a:rPr>
              <a:t>M</a:t>
            </a:r>
            <a:r>
              <a:rPr b="0" lang="en-US" sz="1500" spc="-1" strike="noStrike">
                <a:solidFill>
                  <a:srgbClr val="444444"/>
                </a:solidFill>
                <a:latin typeface="Calibri"/>
              </a:rPr>
              <a:t>  →  HDR </a:t>
            </a:r>
            <a:r>
              <a:rPr b="0" lang="zh-CN" sz="1500" spc="-1" strike="noStrike">
                <a:solidFill>
                  <a:srgbClr val="444444"/>
                </a:solidFill>
                <a:latin typeface="Calibri"/>
              </a:rPr>
              <a:t>下 </a:t>
            </a:r>
            <a:r>
              <a:rPr b="0" lang="en-US" sz="1500" spc="-1" strike="noStrike">
                <a:solidFill>
                  <a:srgbClr val="444444"/>
                </a:solidFill>
                <a:latin typeface="Calibri"/>
              </a:rPr>
              <a:t>M </a:t>
            </a:r>
            <a:r>
              <a:rPr b="0" lang="zh-CN" sz="1500" spc="-1" strike="noStrike">
                <a:solidFill>
                  <a:srgbClr val="444444"/>
                </a:solidFill>
                <a:latin typeface="Calibri"/>
              </a:rPr>
              <a:t>高约 </a:t>
            </a:r>
            <a:r>
              <a:rPr b="0" lang="en-US" sz="1500" spc="-1" strike="noStrike">
                <a:solidFill>
                  <a:srgbClr val="444444"/>
                </a:solidFill>
                <a:latin typeface="Calibri"/>
              </a:rPr>
              <a:t>5.6%</a:t>
            </a:r>
            <a:r>
              <a:rPr b="0" lang="zh-CN" sz="1500" spc="-1" strike="noStrike">
                <a:solidFill>
                  <a:srgbClr val="444444"/>
                </a:solidFill>
                <a:latin typeface="Calibri"/>
              </a:rPr>
              <a:t>（</a:t>
            </a:r>
            <a:r>
              <a:rPr b="0" lang="en-US" sz="1500" spc="-1" strike="noStrike">
                <a:solidFill>
                  <a:srgbClr val="444444"/>
                </a:solidFill>
                <a:latin typeface="Calibri"/>
              </a:rPr>
              <a:t>Hunt Effect</a:t>
            </a:r>
            <a:r>
              <a:rPr b="0" lang="zh-CN" sz="1500" spc="-1" strike="noStrike">
                <a:solidFill>
                  <a:srgbClr val="444444"/>
                </a:solidFill>
                <a:latin typeface="Calibri"/>
              </a:rPr>
              <a:t>）</a:t>
            </a:r>
            <a:endParaRPr b="0" lang="en-US" sz="1500" spc="-1" strike="noStrike">
              <a:latin typeface="Arial"/>
            </a:endParaRPr>
          </a:p>
        </p:txBody>
      </p:sp>
      <p:sp>
        <p:nvSpPr>
          <p:cNvPr id="72" name="Rectangle 14"/>
          <p:cNvSpPr/>
          <p:nvPr/>
        </p:nvSpPr>
        <p:spPr>
          <a:xfrm>
            <a:off x="822960" y="5166360"/>
            <a:ext cx="10515240" cy="12240"/>
          </a:xfrm>
          <a:prstGeom prst="rect">
            <a:avLst/>
          </a:prstGeom>
          <a:solidFill>
            <a:srgbClr val="e0e0e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73" name="TextBox 15"/>
          <p:cNvSpPr/>
          <p:nvPr/>
        </p:nvSpPr>
        <p:spPr>
          <a:xfrm>
            <a:off x="822960" y="5394960"/>
            <a:ext cx="10515240" cy="73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ts val="2551"/>
              </a:lnSpc>
              <a:spcAft>
                <a:spcPts val="300"/>
              </a:spcAft>
              <a:buNone/>
            </a:pPr>
            <a:r>
              <a:rPr b="1" lang="zh-CN" sz="1700" spc="-1" strike="noStrike">
                <a:solidFill>
                  <a:srgbClr val="8b0000"/>
                </a:solidFill>
                <a:latin typeface="Calibri"/>
              </a:rPr>
              <a:t>结论：</a:t>
            </a:r>
            <a:r>
              <a:rPr b="0" lang="zh-CN" sz="1700" spc="-1" strike="noStrike">
                <a:solidFill>
                  <a:srgbClr val="1b2a4a"/>
                </a:solidFill>
                <a:latin typeface="Calibri"/>
              </a:rPr>
              <a:t>提高 </a:t>
            </a:r>
            <a:r>
              <a:rPr b="0" lang="en-US" sz="1700" spc="-1" strike="noStrike">
                <a:solidFill>
                  <a:srgbClr val="1b2a4a"/>
                </a:solidFill>
                <a:latin typeface="Calibri"/>
              </a:rPr>
              <a:t>HDR </a:t>
            </a:r>
            <a:r>
              <a:rPr b="0" lang="zh-CN" sz="1700" spc="-1" strike="noStrike">
                <a:solidFill>
                  <a:srgbClr val="1b2a4a"/>
                </a:solidFill>
                <a:latin typeface="Calibri"/>
              </a:rPr>
              <a:t>显示亮度通过 </a:t>
            </a:r>
            <a:r>
              <a:rPr b="0" lang="en-US" sz="1700" spc="-1" strike="noStrike">
                <a:solidFill>
                  <a:srgbClr val="1b2a4a"/>
                </a:solidFill>
                <a:latin typeface="Calibri"/>
              </a:rPr>
              <a:t>F_L^0.25 </a:t>
            </a:r>
            <a:r>
              <a:rPr b="0" lang="zh-CN" sz="1700" spc="-1" strike="noStrike">
                <a:solidFill>
                  <a:srgbClr val="1b2a4a"/>
                </a:solidFill>
                <a:latin typeface="Calibri"/>
              </a:rPr>
              <a:t>直接放大 </a:t>
            </a:r>
            <a:r>
              <a:rPr b="0" lang="en-US" sz="1700" spc="-1" strike="noStrike">
                <a:solidFill>
                  <a:srgbClr val="1b2a4a"/>
                </a:solidFill>
                <a:latin typeface="Calibri"/>
              </a:rPr>
              <a:t>M</a:t>
            </a:r>
            <a:r>
              <a:rPr b="0" lang="zh-CN" sz="1700" spc="-1" strike="noStrike">
                <a:solidFill>
                  <a:srgbClr val="1b2a4a"/>
                </a:solidFill>
                <a:latin typeface="Calibri"/>
              </a:rPr>
              <a:t>，可通过</a:t>
            </a:r>
            <a:r>
              <a:rPr b="1" lang="zh-CN" sz="1700" spc="-1" strike="noStrike">
                <a:solidFill>
                  <a:srgbClr val="8b0000"/>
                </a:solidFill>
                <a:latin typeface="Calibri"/>
              </a:rPr>
              <a:t>降低 </a:t>
            </a:r>
            <a:r>
              <a:rPr b="1" lang="en-US" sz="1700" spc="-1" strike="noStrike">
                <a:solidFill>
                  <a:srgbClr val="8b0000"/>
                </a:solidFill>
                <a:latin typeface="Calibri"/>
              </a:rPr>
              <a:t>C </a:t>
            </a:r>
            <a:r>
              <a:rPr b="1" lang="zh-CN" sz="1700" spc="-1" strike="noStrike">
                <a:solidFill>
                  <a:srgbClr val="8b0000"/>
                </a:solidFill>
                <a:latin typeface="Calibri"/>
              </a:rPr>
              <a:t>约 </a:t>
            </a:r>
            <a:r>
              <a:rPr b="1" lang="en-US" sz="1700" spc="-1" strike="noStrike">
                <a:solidFill>
                  <a:srgbClr val="8b0000"/>
                </a:solidFill>
                <a:latin typeface="Calibri"/>
              </a:rPr>
              <a:t>5.3%</a:t>
            </a:r>
            <a:r>
              <a:rPr b="0" lang="zh-CN" sz="1700" spc="-1" strike="noStrike">
                <a:solidFill>
                  <a:srgbClr val="1b2a4a"/>
                </a:solidFill>
                <a:latin typeface="Calibri"/>
              </a:rPr>
              <a:t>（</a:t>
            </a:r>
            <a:r>
              <a:rPr b="0" lang="en-US" sz="1700" spc="-1" strike="noStrike">
                <a:solidFill>
                  <a:srgbClr val="1b2a4a"/>
                </a:solidFill>
                <a:latin typeface="Calibri"/>
              </a:rPr>
              <a:t>C_HDR ≈ C_SDR / 1.056</a:t>
            </a:r>
            <a:r>
              <a:rPr b="0" lang="zh-CN" sz="1700" spc="-1" strike="noStrike">
                <a:solidFill>
                  <a:srgbClr val="1b2a4a"/>
                </a:solidFill>
                <a:latin typeface="Calibri"/>
              </a:rPr>
              <a:t>）保持 </a:t>
            </a:r>
            <a:r>
              <a:rPr b="0" lang="en-US" sz="1700" spc="-1" strike="noStrike">
                <a:solidFill>
                  <a:srgbClr val="1b2a4a"/>
                </a:solidFill>
                <a:latin typeface="Calibri"/>
              </a:rPr>
              <a:t>M </a:t>
            </a:r>
            <a:r>
              <a:rPr b="0" lang="zh-CN" sz="1700" spc="-1" strike="noStrike">
                <a:solidFill>
                  <a:srgbClr val="1b2a4a"/>
                </a:solidFill>
                <a:latin typeface="Calibri"/>
              </a:rPr>
              <a:t>不变</a:t>
            </a:r>
            <a:endParaRPr b="0" lang="en-US" sz="17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Rectangle 16"/>
          <p:cNvSpPr/>
          <p:nvPr/>
        </p:nvSpPr>
        <p:spPr>
          <a:xfrm>
            <a:off x="6217920" y="3840480"/>
            <a:ext cx="5394600" cy="2468520"/>
          </a:xfrm>
          <a:prstGeom prst="rect">
            <a:avLst/>
          </a:prstGeom>
          <a:solidFill>
            <a:srgbClr val="f0f0ee"/>
          </a:solidFill>
          <a:ln>
            <a:solidFill>
              <a:srgbClr val="dddddd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75" name="Rectangle 4"/>
          <p:cNvSpPr/>
          <p:nvPr/>
        </p:nvSpPr>
        <p:spPr>
          <a:xfrm>
            <a:off x="0" y="0"/>
            <a:ext cx="12191400" cy="1005480"/>
          </a:xfrm>
          <a:prstGeom prst="rect">
            <a:avLst/>
          </a:prstGeom>
          <a:solidFill>
            <a:srgbClr val="1b2a4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76" name="TextBox 5"/>
          <p:cNvSpPr/>
          <p:nvPr/>
        </p:nvSpPr>
        <p:spPr>
          <a:xfrm>
            <a:off x="548640" y="137160"/>
            <a:ext cx="9143640" cy="58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ts val="3900"/>
              </a:lnSpc>
              <a:buNone/>
            </a:pPr>
            <a:r>
              <a:rPr b="1" lang="en-US" sz="3000" spc="-1" strike="noStrike">
                <a:solidFill>
                  <a:srgbClr val="ffffff"/>
                </a:solidFill>
                <a:latin typeface="Calibri"/>
              </a:rPr>
              <a:t>chromaScale </a:t>
            </a:r>
            <a:r>
              <a:rPr b="1" lang="zh-CN" sz="3000" spc="-1" strike="noStrike">
                <a:solidFill>
                  <a:srgbClr val="ffffff"/>
                </a:solidFill>
                <a:latin typeface="Calibri"/>
              </a:rPr>
              <a:t>方案设计</a:t>
            </a:r>
            <a:endParaRPr b="0" lang="en-US" sz="3000" spc="-1" strike="noStrike">
              <a:latin typeface="Arial"/>
            </a:endParaRPr>
          </a:p>
        </p:txBody>
      </p:sp>
      <p:sp>
        <p:nvSpPr>
          <p:cNvPr id="77" name="TextBox 7"/>
          <p:cNvSpPr/>
          <p:nvPr/>
        </p:nvSpPr>
        <p:spPr>
          <a:xfrm>
            <a:off x="548640" y="640080"/>
            <a:ext cx="9143640" cy="32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ts val="1820"/>
              </a:lnSpc>
              <a:buNone/>
            </a:pPr>
            <a:r>
              <a:rPr b="0" lang="en-US" sz="1400" spc="-1" strike="noStrike">
                <a:solidFill>
                  <a:srgbClr val="aabbcc"/>
                </a:solidFill>
                <a:latin typeface="Calibri"/>
              </a:rPr>
              <a:t>Section 3.3  —  </a:t>
            </a:r>
            <a:r>
              <a:rPr b="0" lang="zh-CN" sz="1400" spc="-1" strike="noStrike">
                <a:solidFill>
                  <a:srgbClr val="aabbcc"/>
                </a:solidFill>
                <a:latin typeface="Calibri"/>
              </a:rPr>
              <a:t>简单方案与实现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78" name="TextBox 9"/>
          <p:cNvSpPr/>
          <p:nvPr/>
        </p:nvSpPr>
        <p:spPr>
          <a:xfrm>
            <a:off x="11247120" y="6400800"/>
            <a:ext cx="731160" cy="271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>
              <a:lnSpc>
                <a:spcPts val="1429"/>
              </a:lnSpc>
              <a:buNone/>
            </a:pPr>
            <a:r>
              <a:rPr b="0" lang="en-US" sz="1100" spc="-1" strike="noStrike">
                <a:solidFill>
                  <a:srgbClr val="999999"/>
                </a:solidFill>
                <a:latin typeface="Calibri"/>
              </a:rPr>
              <a:t>5/7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79" name="TextBox 10"/>
          <p:cNvSpPr/>
          <p:nvPr/>
        </p:nvSpPr>
        <p:spPr>
          <a:xfrm>
            <a:off x="548640" y="1188720"/>
            <a:ext cx="5303160" cy="45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ts val="2860"/>
              </a:lnSpc>
              <a:buNone/>
            </a:pPr>
            <a:r>
              <a:rPr b="1" lang="zh-CN" sz="2200" spc="-1" strike="noStrike">
                <a:solidFill>
                  <a:srgbClr val="1b2a4a"/>
                </a:solidFill>
                <a:latin typeface="Calibri"/>
              </a:rPr>
              <a:t>核心思想：亮度不变，缩放色差信号</a:t>
            </a:r>
            <a:endParaRPr b="0" lang="en-US" sz="2200" spc="-1" strike="noStrike">
              <a:latin typeface="Arial"/>
            </a:endParaRPr>
          </a:p>
        </p:txBody>
      </p:sp>
      <p:pic>
        <p:nvPicPr>
          <p:cNvPr id="80" name="Picture 4" descr="image.png"/>
          <p:cNvPicPr/>
          <p:nvPr/>
        </p:nvPicPr>
        <p:blipFill>
          <a:blip r:embed="rId1"/>
          <a:stretch/>
        </p:blipFill>
        <p:spPr>
          <a:xfrm>
            <a:off x="548640" y="1737360"/>
            <a:ext cx="7314840" cy="1217880"/>
          </a:xfrm>
          <a:prstGeom prst="rect">
            <a:avLst/>
          </a:prstGeom>
          <a:ln w="0">
            <a:noFill/>
          </a:ln>
        </p:spPr>
      </p:pic>
      <p:sp>
        <p:nvSpPr>
          <p:cNvPr id="81" name="TextBox 12"/>
          <p:cNvSpPr/>
          <p:nvPr/>
        </p:nvSpPr>
        <p:spPr>
          <a:xfrm>
            <a:off x="548640" y="2377440"/>
            <a:ext cx="5303160" cy="338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ts val="1959"/>
              </a:lnSpc>
              <a:spcAft>
                <a:spcPts val="601"/>
              </a:spcAft>
              <a:buNone/>
            </a:pPr>
            <a:r>
              <a:rPr b="0" lang="zh-CN" sz="1500" spc="-1" strike="noStrike">
                <a:solidFill>
                  <a:srgbClr val="444444"/>
                </a:solidFill>
                <a:latin typeface="Calibri"/>
              </a:rPr>
              <a:t>其中：</a:t>
            </a:r>
            <a:endParaRPr b="0" lang="en-US" sz="1500" spc="-1" strike="noStrike">
              <a:latin typeface="Arial"/>
            </a:endParaRPr>
          </a:p>
        </p:txBody>
      </p:sp>
      <p:pic>
        <p:nvPicPr>
          <p:cNvPr id="82" name="Picture 5" descr="image.png"/>
          <p:cNvPicPr/>
          <p:nvPr/>
        </p:nvPicPr>
        <p:blipFill>
          <a:blip r:embed="rId2"/>
          <a:stretch/>
        </p:blipFill>
        <p:spPr>
          <a:xfrm>
            <a:off x="548640" y="2743200"/>
            <a:ext cx="5028840" cy="870120"/>
          </a:xfrm>
          <a:prstGeom prst="rect">
            <a:avLst/>
          </a:prstGeom>
          <a:ln w="0">
            <a:noFill/>
          </a:ln>
        </p:spPr>
      </p:pic>
      <p:sp>
        <p:nvSpPr>
          <p:cNvPr id="83" name="TextBox 14"/>
          <p:cNvSpPr/>
          <p:nvPr/>
        </p:nvSpPr>
        <p:spPr>
          <a:xfrm>
            <a:off x="548640" y="3246120"/>
            <a:ext cx="5303160" cy="2939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ts val="1959"/>
              </a:lnSpc>
              <a:spcAft>
                <a:spcPts val="601"/>
              </a:spcAft>
              <a:buNone/>
            </a:pPr>
            <a:r>
              <a:rPr b="0" lang="en-US" sz="1500" spc="-1" strike="noStrike">
                <a:solidFill>
                  <a:srgbClr val="2e5e8e"/>
                </a:solidFill>
                <a:latin typeface="Calibri"/>
              </a:rPr>
              <a:t>gray = (L, L, L)</a:t>
            </a:r>
            <a:r>
              <a:rPr b="0" lang="en-US" sz="1400" spc="-1" strike="noStrike">
                <a:solidFill>
                  <a:srgbClr val="444444"/>
                </a:solidFill>
                <a:latin typeface="Calibri"/>
              </a:rPr>
              <a:t>  — </a:t>
            </a:r>
            <a:r>
              <a:rPr b="0" lang="zh-CN" sz="1400" spc="-1" strike="noStrike">
                <a:solidFill>
                  <a:srgbClr val="444444"/>
                </a:solidFill>
                <a:latin typeface="Calibri"/>
              </a:rPr>
              <a:t>同亮度纯灰</a:t>
            </a:r>
            <a:endParaRPr b="0" lang="en-US" sz="1400" spc="-1" strike="noStrike">
              <a:latin typeface="Arial"/>
            </a:endParaRPr>
          </a:p>
          <a:p>
            <a:pPr>
              <a:lnSpc>
                <a:spcPts val="1959"/>
              </a:lnSpc>
              <a:spcAft>
                <a:spcPts val="601"/>
              </a:spcAft>
              <a:buNone/>
            </a:pPr>
            <a:r>
              <a:rPr b="0" lang="en-US" sz="1500" spc="-1" strike="noStrike">
                <a:solidFill>
                  <a:srgbClr val="2e5e8e"/>
                </a:solidFill>
                <a:latin typeface="Calibri"/>
              </a:rPr>
              <a:t>chromatic = blended − gray</a:t>
            </a:r>
            <a:r>
              <a:rPr b="0" lang="en-US" sz="1400" spc="-1" strike="noStrike">
                <a:solidFill>
                  <a:srgbClr val="444444"/>
                </a:solidFill>
                <a:latin typeface="Calibri"/>
              </a:rPr>
              <a:t>  — </a:t>
            </a:r>
            <a:r>
              <a:rPr b="0" lang="zh-CN" sz="1400" spc="-1" strike="noStrike">
                <a:solidFill>
                  <a:srgbClr val="444444"/>
                </a:solidFill>
                <a:latin typeface="Calibri"/>
              </a:rPr>
              <a:t>色差信号</a:t>
            </a:r>
            <a:endParaRPr b="0" lang="en-US" sz="1400" spc="-1" strike="noStrike">
              <a:latin typeface="Arial"/>
            </a:endParaRPr>
          </a:p>
          <a:p>
            <a:pPr>
              <a:lnSpc>
                <a:spcPts val="1959"/>
              </a:lnSpc>
              <a:spcAft>
                <a:spcPts val="601"/>
              </a:spcAft>
              <a:buNone/>
            </a:pPr>
            <a:r>
              <a:rPr b="0" lang="en-US" sz="1400" spc="-1" strike="noStrike">
                <a:solidFill>
                  <a:srgbClr val="444444"/>
                </a:solidFill>
                <a:latin typeface="Calibri"/>
              </a:rPr>
              <a:t>chromaScale = 1.0 → </a:t>
            </a:r>
            <a:r>
              <a:rPr b="0" lang="zh-CN" sz="1400" spc="-1" strike="noStrike">
                <a:solidFill>
                  <a:srgbClr val="444444"/>
                </a:solidFill>
                <a:latin typeface="Calibri"/>
              </a:rPr>
              <a:t>不变（</a:t>
            </a:r>
            <a:r>
              <a:rPr b="0" lang="en-US" sz="1400" spc="-1" strike="noStrike">
                <a:solidFill>
                  <a:srgbClr val="444444"/>
                </a:solidFill>
                <a:latin typeface="Calibri"/>
              </a:rPr>
              <a:t>SDR </a:t>
            </a:r>
            <a:r>
              <a:rPr b="0" lang="zh-CN" sz="1400" spc="-1" strike="noStrike">
                <a:solidFill>
                  <a:srgbClr val="444444"/>
                </a:solidFill>
                <a:latin typeface="Calibri"/>
              </a:rPr>
              <a:t>默认）</a:t>
            </a:r>
            <a:endParaRPr b="0" lang="en-US" sz="1400" spc="-1" strike="noStrike">
              <a:latin typeface="Arial"/>
            </a:endParaRPr>
          </a:p>
          <a:p>
            <a:pPr>
              <a:lnSpc>
                <a:spcPts val="1959"/>
              </a:lnSpc>
              <a:spcAft>
                <a:spcPts val="601"/>
              </a:spcAft>
              <a:buNone/>
            </a:pPr>
            <a:r>
              <a:rPr b="0" lang="en-US" sz="1400" spc="-1" strike="noStrike">
                <a:solidFill>
                  <a:srgbClr val="8b0000"/>
                </a:solidFill>
                <a:latin typeface="Calibri"/>
              </a:rPr>
              <a:t>chromaScale &lt; 1.0</a:t>
            </a:r>
            <a:r>
              <a:rPr b="0" lang="en-US" sz="1400" spc="-1" strike="noStrike">
                <a:solidFill>
                  <a:srgbClr val="444444"/>
                </a:solidFill>
                <a:latin typeface="Calibri"/>
              </a:rPr>
              <a:t> → </a:t>
            </a:r>
            <a:r>
              <a:rPr b="0" lang="zh-CN" sz="1400" spc="-1" strike="noStrike">
                <a:solidFill>
                  <a:srgbClr val="444444"/>
                </a:solidFill>
                <a:latin typeface="Calibri"/>
              </a:rPr>
              <a:t>降低彩度（</a:t>
            </a:r>
            <a:r>
              <a:rPr b="0" lang="en-US" sz="1400" spc="-1" strike="noStrike">
                <a:solidFill>
                  <a:srgbClr val="444444"/>
                </a:solidFill>
                <a:latin typeface="Calibri"/>
              </a:rPr>
              <a:t>HDR </a:t>
            </a:r>
            <a:r>
              <a:rPr b="0" lang="zh-CN" sz="1400" spc="-1" strike="noStrike">
                <a:solidFill>
                  <a:srgbClr val="444444"/>
                </a:solidFill>
                <a:latin typeface="Calibri"/>
              </a:rPr>
              <a:t>补偿）</a:t>
            </a:r>
            <a:endParaRPr b="0" lang="en-US" sz="1400" spc="-1" strike="noStrike">
              <a:latin typeface="Arial"/>
            </a:endParaRPr>
          </a:p>
          <a:p>
            <a:pPr>
              <a:lnSpc>
                <a:spcPts val="1959"/>
              </a:lnSpc>
              <a:spcAft>
                <a:spcPts val="601"/>
              </a:spcAft>
              <a:buNone/>
            </a:pPr>
            <a:endParaRPr b="0" lang="en-US" sz="800" spc="-1" strike="noStrike">
              <a:latin typeface="Arial"/>
            </a:endParaRPr>
          </a:p>
          <a:p>
            <a:pPr>
              <a:lnSpc>
                <a:spcPts val="1959"/>
              </a:lnSpc>
              <a:spcAft>
                <a:spcPts val="601"/>
              </a:spcAft>
              <a:buNone/>
            </a:pPr>
            <a:r>
              <a:rPr b="1" lang="zh-CN" sz="1500" spc="-1" strike="noStrike">
                <a:solidFill>
                  <a:srgbClr val="1b2a4a"/>
                </a:solidFill>
                <a:latin typeface="Calibri"/>
              </a:rPr>
              <a:t>为什么可行：</a:t>
            </a:r>
            <a:endParaRPr b="0" lang="en-US" sz="1500" spc="-1" strike="noStrike">
              <a:latin typeface="Arial"/>
            </a:endParaRPr>
          </a:p>
          <a:p>
            <a:pPr>
              <a:lnSpc>
                <a:spcPts val="1959"/>
              </a:lnSpc>
              <a:spcAft>
                <a:spcPts val="601"/>
              </a:spcAft>
              <a:buNone/>
            </a:pPr>
            <a:r>
              <a:rPr b="0" lang="en-US" sz="1400" spc="-1" strike="noStrike">
                <a:solidFill>
                  <a:srgbClr val="444444"/>
                </a:solidFill>
                <a:latin typeface="Calibri"/>
              </a:rPr>
              <a:t>gray </a:t>
            </a:r>
            <a:r>
              <a:rPr b="0" lang="zh-CN" sz="1400" spc="-1" strike="noStrike">
                <a:solidFill>
                  <a:srgbClr val="444444"/>
                </a:solidFill>
                <a:latin typeface="Calibri"/>
              </a:rPr>
              <a:t>不变 → </a:t>
            </a:r>
            <a:r>
              <a:rPr b="0" lang="en-US" sz="1400" spc="-1" strike="noStrike">
                <a:solidFill>
                  <a:srgbClr val="444444"/>
                </a:solidFill>
                <a:latin typeface="Calibri"/>
              </a:rPr>
              <a:t>luminance </a:t>
            </a:r>
            <a:r>
              <a:rPr b="0" lang="zh-CN" sz="1400" spc="-1" strike="noStrike">
                <a:solidFill>
                  <a:srgbClr val="444444"/>
                </a:solidFill>
                <a:latin typeface="Calibri"/>
              </a:rPr>
              <a:t>不变 → </a:t>
            </a:r>
            <a:r>
              <a:rPr b="0" lang="en-US" sz="1400" spc="-1" strike="noStrike">
                <a:solidFill>
                  <a:srgbClr val="444444"/>
                </a:solidFill>
                <a:latin typeface="Calibri"/>
              </a:rPr>
              <a:t>J </a:t>
            </a:r>
            <a:r>
              <a:rPr b="0" lang="zh-CN" sz="1400" spc="-1" strike="noStrike">
                <a:solidFill>
                  <a:srgbClr val="444444"/>
                </a:solidFill>
                <a:latin typeface="Calibri"/>
              </a:rPr>
              <a:t>不变 → 目标①保持</a:t>
            </a:r>
            <a:endParaRPr b="0" lang="en-US" sz="1400" spc="-1" strike="noStrike">
              <a:latin typeface="Arial"/>
            </a:endParaRPr>
          </a:p>
          <a:p>
            <a:pPr>
              <a:lnSpc>
                <a:spcPts val="1959"/>
              </a:lnSpc>
              <a:spcAft>
                <a:spcPts val="601"/>
              </a:spcAft>
              <a:buNone/>
            </a:pPr>
            <a:r>
              <a:rPr b="0" lang="en-US" sz="1400" spc="-1" strike="noStrike">
                <a:solidFill>
                  <a:srgbClr val="444444"/>
                </a:solidFill>
                <a:latin typeface="Calibri"/>
              </a:rPr>
              <a:t>chromatic </a:t>
            </a:r>
            <a:r>
              <a:rPr b="0" lang="zh-CN" sz="1400" spc="-1" strike="noStrike">
                <a:solidFill>
                  <a:srgbClr val="444444"/>
                </a:solidFill>
                <a:latin typeface="Calibri"/>
              </a:rPr>
              <a:t>缩放 → </a:t>
            </a:r>
            <a:r>
              <a:rPr b="0" lang="en-US" sz="1400" spc="-1" strike="noStrike">
                <a:solidFill>
                  <a:srgbClr val="444444"/>
                </a:solidFill>
                <a:latin typeface="Calibri"/>
              </a:rPr>
              <a:t>a,b </a:t>
            </a:r>
            <a:r>
              <a:rPr b="0" lang="zh-CN" sz="1400" spc="-1" strike="noStrike">
                <a:solidFill>
                  <a:srgbClr val="444444"/>
                </a:solidFill>
                <a:latin typeface="Calibri"/>
              </a:rPr>
              <a:t>缩放 → </a:t>
            </a:r>
            <a:r>
              <a:rPr b="0" lang="en-US" sz="1400" spc="-1" strike="noStrike">
                <a:solidFill>
                  <a:srgbClr val="444444"/>
                </a:solidFill>
                <a:latin typeface="Calibri"/>
              </a:rPr>
              <a:t>M </a:t>
            </a:r>
            <a:r>
              <a:rPr b="0" lang="zh-CN" sz="1400" spc="-1" strike="noStrike">
                <a:solidFill>
                  <a:srgbClr val="444444"/>
                </a:solidFill>
                <a:latin typeface="Calibri"/>
              </a:rPr>
              <a:t>缩放 → 目标③可调</a:t>
            </a:r>
            <a:endParaRPr b="0" lang="en-US" sz="1400" spc="-1" strike="noStrike">
              <a:latin typeface="Arial"/>
            </a:endParaRPr>
          </a:p>
          <a:p>
            <a:pPr>
              <a:lnSpc>
                <a:spcPts val="1959"/>
              </a:lnSpc>
              <a:spcAft>
                <a:spcPts val="601"/>
              </a:spcAft>
              <a:buNone/>
            </a:pPr>
            <a:r>
              <a:rPr b="0" lang="en-US" sz="1400" spc="-1" strike="noStrike">
                <a:solidFill>
                  <a:srgbClr val="444444"/>
                </a:solidFill>
                <a:latin typeface="Calibri"/>
              </a:rPr>
              <a:t>α </a:t>
            </a:r>
            <a:r>
              <a:rPr b="0" lang="zh-CN" sz="1400" spc="-1" strike="noStrike">
                <a:solidFill>
                  <a:srgbClr val="444444"/>
                </a:solidFill>
                <a:latin typeface="Calibri"/>
              </a:rPr>
              <a:t>不变 → 不透明度不变 → 目标②保持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84" name="TextBox 17"/>
          <p:cNvSpPr/>
          <p:nvPr/>
        </p:nvSpPr>
        <p:spPr>
          <a:xfrm>
            <a:off x="6400800" y="1188720"/>
            <a:ext cx="5303160" cy="41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ts val="2599"/>
              </a:lnSpc>
              <a:buNone/>
            </a:pPr>
            <a:r>
              <a:rPr b="1" lang="zh-CN" sz="2000" spc="-1" strike="noStrike">
                <a:solidFill>
                  <a:srgbClr val="1b2a4a"/>
                </a:solidFill>
                <a:latin typeface="Calibri"/>
              </a:rPr>
              <a:t>目标值推导</a:t>
            </a:r>
            <a:endParaRPr b="0" lang="en-US" sz="2000" spc="-1" strike="noStrike">
              <a:latin typeface="Arial"/>
            </a:endParaRPr>
          </a:p>
        </p:txBody>
      </p:sp>
      <p:pic>
        <p:nvPicPr>
          <p:cNvPr id="85" name="Picture 6" descr="image.png"/>
          <p:cNvPicPr/>
          <p:nvPr/>
        </p:nvPicPr>
        <p:blipFill>
          <a:blip r:embed="rId3"/>
          <a:stretch/>
        </p:blipFill>
        <p:spPr>
          <a:xfrm>
            <a:off x="6400800" y="1645920"/>
            <a:ext cx="5028840" cy="870120"/>
          </a:xfrm>
          <a:prstGeom prst="rect">
            <a:avLst/>
          </a:prstGeom>
          <a:ln w="0">
            <a:noFill/>
          </a:ln>
        </p:spPr>
      </p:pic>
      <p:sp>
        <p:nvSpPr>
          <p:cNvPr id="86" name="TextBox 19"/>
          <p:cNvSpPr/>
          <p:nvPr/>
        </p:nvSpPr>
        <p:spPr>
          <a:xfrm>
            <a:off x="6400800" y="2286000"/>
            <a:ext cx="5028840" cy="139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ts val="1820"/>
              </a:lnSpc>
              <a:spcAft>
                <a:spcPts val="601"/>
              </a:spcAft>
              <a:buNone/>
            </a:pPr>
            <a:r>
              <a:rPr b="1" lang="zh-CN" sz="1600" spc="-1" strike="noStrike">
                <a:solidFill>
                  <a:srgbClr val="8b0000"/>
                </a:solidFill>
                <a:latin typeface="Calibri"/>
              </a:rPr>
              <a:t>初始参考范围：</a:t>
            </a:r>
            <a:r>
              <a:rPr b="1" lang="en-US" sz="1600" spc="-1" strike="noStrike">
                <a:solidFill>
                  <a:srgbClr val="8b0000"/>
                </a:solidFill>
                <a:latin typeface="Calibri"/>
              </a:rPr>
              <a:t>0.93 ~ 0.96</a:t>
            </a:r>
            <a:endParaRPr b="0" lang="en-US" sz="1600" spc="-1" strike="noStrike">
              <a:latin typeface="Arial"/>
            </a:endParaRPr>
          </a:p>
          <a:p>
            <a:pPr>
              <a:lnSpc>
                <a:spcPts val="1820"/>
              </a:lnSpc>
              <a:spcAft>
                <a:spcPts val="601"/>
              </a:spcAft>
              <a:buNone/>
            </a:pPr>
            <a:r>
              <a:rPr b="0" lang="zh-CN" sz="1300" spc="-1" strike="noStrike">
                <a:solidFill>
                  <a:srgbClr val="444444"/>
                </a:solidFill>
                <a:latin typeface="Calibri"/>
              </a:rPr>
              <a:t>交叉验证：</a:t>
            </a:r>
            <a:r>
              <a:rPr b="0" lang="en-US" sz="1300" spc="-1" strike="noStrike">
                <a:solidFill>
                  <a:srgbClr val="444444"/>
                </a:solidFill>
                <a:latin typeface="Calibri"/>
              </a:rPr>
              <a:t>Kawashima &amp; Ohno (CIE x047:2020) </a:t>
            </a:r>
            <a:r>
              <a:rPr b="0" lang="zh-CN" sz="1300" spc="-1" strike="noStrike">
                <a:solidFill>
                  <a:srgbClr val="444444"/>
                </a:solidFill>
                <a:latin typeface="Calibri"/>
              </a:rPr>
              <a:t>报告 </a:t>
            </a:r>
            <a:r>
              <a:rPr b="0" lang="en-US" sz="1300" spc="-1" strike="noStrike">
                <a:solidFill>
                  <a:srgbClr val="444444"/>
                </a:solidFill>
                <a:latin typeface="Calibri"/>
              </a:rPr>
              <a:t>10:1 </a:t>
            </a:r>
            <a:r>
              <a:rPr b="0" lang="zh-CN" sz="1300" spc="-1" strike="noStrike">
                <a:solidFill>
                  <a:srgbClr val="444444"/>
                </a:solidFill>
                <a:latin typeface="Calibri"/>
              </a:rPr>
              <a:t>照度比下</a:t>
            </a:r>
            <a:endParaRPr b="0" lang="en-US" sz="1300" spc="-1" strike="noStrike">
              <a:latin typeface="Arial"/>
            </a:endParaRPr>
          </a:p>
          <a:p>
            <a:pPr>
              <a:lnSpc>
                <a:spcPts val="1820"/>
              </a:lnSpc>
              <a:spcAft>
                <a:spcPts val="601"/>
              </a:spcAft>
              <a:buNone/>
            </a:pPr>
            <a:r>
              <a:rPr b="0" lang="en-US" sz="1300" spc="-1" strike="noStrike">
                <a:solidFill>
                  <a:srgbClr val="444444"/>
                </a:solidFill>
                <a:latin typeface="Calibri"/>
              </a:rPr>
              <a:t>perceived chroma </a:t>
            </a:r>
            <a:r>
              <a:rPr b="0" lang="zh-CN" sz="1300" spc="-1" strike="noStrike">
                <a:solidFill>
                  <a:srgbClr val="444444"/>
                </a:solidFill>
                <a:latin typeface="Calibri"/>
              </a:rPr>
              <a:t>差 </a:t>
            </a:r>
            <a:r>
              <a:rPr b="0" lang="en-US" sz="1300" spc="-1" strike="noStrike">
                <a:solidFill>
                  <a:srgbClr val="444444"/>
                </a:solidFill>
                <a:latin typeface="Calibri"/>
              </a:rPr>
              <a:t>8-15%</a:t>
            </a:r>
            <a:r>
              <a:rPr b="0" lang="zh-CN" sz="1300" spc="-1" strike="noStrike">
                <a:solidFill>
                  <a:srgbClr val="444444"/>
                </a:solidFill>
                <a:latin typeface="Calibri"/>
              </a:rPr>
              <a:t>，本项目 </a:t>
            </a:r>
            <a:r>
              <a:rPr b="0" lang="en-US" sz="1300" spc="-1" strike="noStrike">
                <a:solidFill>
                  <a:srgbClr val="444444"/>
                </a:solidFill>
                <a:latin typeface="Calibri"/>
              </a:rPr>
              <a:t>F_L </a:t>
            </a:r>
            <a:r>
              <a:rPr b="0" lang="zh-CN" sz="1300" spc="-1" strike="noStrike">
                <a:solidFill>
                  <a:srgbClr val="444444"/>
                </a:solidFill>
                <a:latin typeface="Calibri"/>
              </a:rPr>
              <a:t>比 </a:t>
            </a:r>
            <a:r>
              <a:rPr b="0" lang="en-US" sz="1300" spc="-1" strike="noStrike">
                <a:solidFill>
                  <a:srgbClr val="444444"/>
                </a:solidFill>
                <a:latin typeface="Calibri"/>
              </a:rPr>
              <a:t>1.24:1</a:t>
            </a:r>
            <a:r>
              <a:rPr b="0" lang="zh-CN" sz="1300" spc="-1" strike="noStrike">
                <a:solidFill>
                  <a:srgbClr val="444444"/>
                </a:solidFill>
                <a:latin typeface="Calibri"/>
              </a:rPr>
              <a:t>，推算 </a:t>
            </a:r>
            <a:r>
              <a:rPr b="0" lang="en-US" sz="1300" spc="-1" strike="noStrike">
                <a:solidFill>
                  <a:srgbClr val="444444"/>
                </a:solidFill>
                <a:latin typeface="Calibri"/>
              </a:rPr>
              <a:t>~5.6%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87" name="Rectangle 6"/>
          <p:cNvSpPr/>
          <p:nvPr/>
        </p:nvSpPr>
        <p:spPr>
          <a:xfrm>
            <a:off x="6400800" y="3291840"/>
            <a:ext cx="5028840" cy="25200"/>
          </a:xfrm>
          <a:prstGeom prst="rect">
            <a:avLst/>
          </a:prstGeom>
          <a:solidFill>
            <a:srgbClr val="ddddd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88" name="TextBox 27"/>
          <p:cNvSpPr/>
          <p:nvPr/>
        </p:nvSpPr>
        <p:spPr>
          <a:xfrm>
            <a:off x="6400800" y="3474720"/>
            <a:ext cx="5303160" cy="387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ts val="2341"/>
              </a:lnSpc>
              <a:buNone/>
            </a:pPr>
            <a:r>
              <a:rPr b="1" lang="en-US" sz="1800" spc="-1" strike="noStrike">
                <a:solidFill>
                  <a:srgbClr val="1b2a4a"/>
                </a:solidFill>
                <a:latin typeface="Calibri"/>
              </a:rPr>
              <a:t>Shader </a:t>
            </a:r>
            <a:r>
              <a:rPr b="1" lang="zh-CN" sz="1800" spc="-1" strike="noStrike">
                <a:solidFill>
                  <a:srgbClr val="1b2a4a"/>
                </a:solidFill>
                <a:latin typeface="Calibri"/>
              </a:rPr>
              <a:t>实现（</a:t>
            </a:r>
            <a:r>
              <a:rPr b="1" lang="en-US" sz="1800" spc="-1" strike="noStrike">
                <a:solidFill>
                  <a:srgbClr val="1b2a4a"/>
                </a:solidFill>
                <a:latin typeface="Calibri"/>
              </a:rPr>
              <a:t>ui.frag</a:t>
            </a:r>
            <a:r>
              <a:rPr b="1" lang="zh-CN" sz="1800" spc="-1" strike="noStrike">
                <a:solidFill>
                  <a:srgbClr val="1b2a4a"/>
                </a:solidFill>
                <a:latin typeface="Calibri"/>
              </a:rPr>
              <a:t>）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89" name="TextBox 28"/>
          <p:cNvSpPr/>
          <p:nvPr/>
        </p:nvSpPr>
        <p:spPr>
          <a:xfrm>
            <a:off x="6400800" y="3931920"/>
            <a:ext cx="5028840" cy="2411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ts val="1599"/>
              </a:lnSpc>
              <a:spcAft>
                <a:spcPts val="99"/>
              </a:spcAft>
              <a:buNone/>
            </a:pPr>
            <a:r>
              <a:rPr b="0" lang="en-US" sz="1200" spc="-1" strike="noStrike">
                <a:solidFill>
                  <a:srgbClr val="444444"/>
                </a:solidFill>
                <a:latin typeface="Consolas"/>
              </a:rPr>
              <a:t>vec3 blended = uiAdj * uiAlpha + bgLinear * (1.0 - uiAlpha);</a:t>
            </a:r>
            <a:endParaRPr b="0" lang="en-US" sz="1200" spc="-1" strike="noStrike">
              <a:latin typeface="Arial"/>
            </a:endParaRPr>
          </a:p>
          <a:p>
            <a:pPr>
              <a:lnSpc>
                <a:spcPts val="1599"/>
              </a:lnSpc>
              <a:spcAft>
                <a:spcPts val="99"/>
              </a:spcAft>
              <a:buNone/>
            </a:pPr>
            <a:endParaRPr b="0" lang="en-US" sz="1200" spc="-1" strike="noStrike">
              <a:latin typeface="Arial"/>
            </a:endParaRPr>
          </a:p>
          <a:p>
            <a:pPr>
              <a:lnSpc>
                <a:spcPts val="1599"/>
              </a:lnSpc>
              <a:spcAft>
                <a:spcPts val="99"/>
              </a:spcAft>
              <a:buNone/>
            </a:pPr>
            <a:r>
              <a:rPr b="0" lang="en-US" sz="1200" spc="-1" strike="noStrike">
                <a:solidFill>
                  <a:srgbClr val="008000"/>
                </a:solidFill>
                <a:latin typeface="Consolas"/>
              </a:rPr>
              <a:t>// chromaScale: luminance-preserving chrominance scaling</a:t>
            </a:r>
            <a:endParaRPr b="0" lang="en-US" sz="1200" spc="-1" strike="noStrike">
              <a:latin typeface="Arial"/>
            </a:endParaRPr>
          </a:p>
          <a:p>
            <a:pPr>
              <a:lnSpc>
                <a:spcPts val="1599"/>
              </a:lnSpc>
              <a:spcAft>
                <a:spcPts val="99"/>
              </a:spcAft>
              <a:buNone/>
            </a:pPr>
            <a:r>
              <a:rPr b="0" lang="en-US" sz="1200" spc="-1" strike="noStrike">
                <a:solidFill>
                  <a:srgbClr val="444444"/>
                </a:solidFill>
                <a:latin typeface="Consolas"/>
              </a:rPr>
              <a:t>float lum = dot(blended, vec3(0.2126, 0.7152, 0.0722));</a:t>
            </a:r>
            <a:endParaRPr b="0" lang="en-US" sz="1200" spc="-1" strike="noStrike">
              <a:latin typeface="Arial"/>
            </a:endParaRPr>
          </a:p>
          <a:p>
            <a:pPr>
              <a:lnSpc>
                <a:spcPts val="1599"/>
              </a:lnSpc>
              <a:spcAft>
                <a:spcPts val="99"/>
              </a:spcAft>
              <a:buNone/>
            </a:pPr>
            <a:r>
              <a:rPr b="0" lang="en-US" sz="1200" spc="-1" strike="noStrike">
                <a:solidFill>
                  <a:srgbClr val="444444"/>
                </a:solidFill>
                <a:latin typeface="Consolas"/>
              </a:rPr>
              <a:t>vec3 gray = vec3(lum);</a:t>
            </a:r>
            <a:endParaRPr b="0" lang="en-US" sz="1200" spc="-1" strike="noStrike">
              <a:latin typeface="Arial"/>
            </a:endParaRPr>
          </a:p>
          <a:p>
            <a:pPr>
              <a:lnSpc>
                <a:spcPts val="1599"/>
              </a:lnSpc>
              <a:spcAft>
                <a:spcPts val="99"/>
              </a:spcAft>
              <a:buNone/>
            </a:pPr>
            <a:r>
              <a:rPr b="0" lang="en-US" sz="1200" spc="-1" strike="noStrike">
                <a:solidFill>
                  <a:srgbClr val="444444"/>
                </a:solidFill>
                <a:latin typeface="Consolas"/>
              </a:rPr>
              <a:t>vec3 result = gray + chromaScale * (blended - gray);</a:t>
            </a:r>
            <a:endParaRPr b="0" lang="en-US" sz="1200" spc="-1" strike="noStrike">
              <a:latin typeface="Arial"/>
            </a:endParaRPr>
          </a:p>
          <a:p>
            <a:pPr>
              <a:lnSpc>
                <a:spcPts val="1599"/>
              </a:lnSpc>
              <a:spcAft>
                <a:spcPts val="99"/>
              </a:spcAft>
              <a:buNone/>
            </a:pPr>
            <a:endParaRPr b="0" lang="en-US" sz="1200" spc="-1" strike="noStrike">
              <a:latin typeface="Arial"/>
            </a:endParaRPr>
          </a:p>
          <a:p>
            <a:pPr>
              <a:lnSpc>
                <a:spcPts val="1599"/>
              </a:lnSpc>
              <a:spcAft>
                <a:spcPts val="99"/>
              </a:spcAft>
              <a:buNone/>
            </a:pPr>
            <a:r>
              <a:rPr b="0" lang="en-US" sz="1200" spc="-1" strike="noStrike">
                <a:solidFill>
                  <a:srgbClr val="444444"/>
                </a:solidFill>
                <a:latin typeface="Consolas"/>
              </a:rPr>
              <a:t>outColor = vec4(result, 1.0);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90" name="TextBox 29"/>
          <p:cNvSpPr/>
          <p:nvPr/>
        </p:nvSpPr>
        <p:spPr>
          <a:xfrm>
            <a:off x="6400800" y="6400800"/>
            <a:ext cx="5028840" cy="39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i="1" lang="zh-CN" sz="1000" spc="-1" strike="noStrike">
                <a:solidFill>
                  <a:srgbClr val="999999"/>
                </a:solidFill>
                <a:latin typeface="Calibri"/>
              </a:rPr>
              <a:t>公式来源：</a:t>
            </a:r>
            <a:r>
              <a:rPr b="0" i="1" lang="en-US" sz="1000" spc="-1" strike="noStrike">
                <a:solidFill>
                  <a:srgbClr val="999999"/>
                </a:solidFill>
                <a:latin typeface="Calibri"/>
              </a:rPr>
              <a:t>CIECAM02 §16.8  |  Rec.709 luminance weights  |  Kawashima &amp; Ohno, CIE x047:2020 OP01</a:t>
            </a:r>
            <a:endParaRPr b="0" lang="en-US" sz="1000" spc="-1" strike="noStrike">
              <a:latin typeface="Arial"/>
            </a:endParaRPr>
          </a:p>
        </p:txBody>
      </p:sp>
      <p:sp>
        <p:nvSpPr>
          <p:cNvPr id="91" name="TextBox 30"/>
          <p:cNvSpPr/>
          <p:nvPr/>
        </p:nvSpPr>
        <p:spPr>
          <a:xfrm>
            <a:off x="548640" y="5029200"/>
            <a:ext cx="5303160" cy="387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ts val="2341"/>
              </a:lnSpc>
              <a:buNone/>
            </a:pPr>
            <a:r>
              <a:rPr b="1" lang="zh-CN" sz="1800" spc="-1" strike="noStrike">
                <a:solidFill>
                  <a:srgbClr val="1b2a4a"/>
                </a:solidFill>
                <a:latin typeface="Calibri"/>
              </a:rPr>
              <a:t>已知限制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92" name="TextBox 31"/>
          <p:cNvSpPr/>
          <p:nvPr/>
        </p:nvSpPr>
        <p:spPr>
          <a:xfrm>
            <a:off x="548640" y="5394960"/>
            <a:ext cx="5303160" cy="148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ts val="1950"/>
              </a:lnSpc>
              <a:spcAft>
                <a:spcPts val="601"/>
              </a:spcAft>
              <a:buNone/>
            </a:pPr>
            <a:r>
              <a:rPr b="1" lang="en-US" sz="1300" spc="-1" strike="noStrike">
                <a:solidFill>
                  <a:srgbClr val="444444"/>
                </a:solidFill>
                <a:latin typeface="Calibri"/>
              </a:rPr>
              <a:t>1. </a:t>
            </a:r>
            <a:r>
              <a:rPr b="0" lang="en-US" sz="1300" spc="-1" strike="noStrike">
                <a:solidFill>
                  <a:srgbClr val="444444"/>
                </a:solidFill>
                <a:latin typeface="Calibri"/>
              </a:rPr>
              <a:t>Rec.709 luminance ≠ CIECAM02 A</a:t>
            </a:r>
            <a:r>
              <a:rPr b="0" lang="zh-CN" sz="1300" spc="-1" strike="noStrike">
                <a:solidFill>
                  <a:srgbClr val="444444"/>
                </a:solidFill>
                <a:latin typeface="Calibri"/>
              </a:rPr>
              <a:t>（权重近似但不完全相同，误差 </a:t>
            </a:r>
            <a:r>
              <a:rPr b="0" lang="en-US" sz="1300" spc="-1" strike="noStrike">
                <a:solidFill>
                  <a:srgbClr val="444444"/>
                </a:solidFill>
                <a:latin typeface="Calibri"/>
              </a:rPr>
              <a:t>&lt; 2%</a:t>
            </a:r>
            <a:r>
              <a:rPr b="0" lang="zh-CN" sz="1300" spc="-1" strike="noStrike">
                <a:solidFill>
                  <a:srgbClr val="444444"/>
                </a:solidFill>
                <a:latin typeface="Calibri"/>
              </a:rPr>
              <a:t>）</a:t>
            </a:r>
            <a:endParaRPr b="0" lang="en-US" sz="1300" spc="-1" strike="noStrike">
              <a:latin typeface="Arial"/>
            </a:endParaRPr>
          </a:p>
          <a:p>
            <a:pPr>
              <a:lnSpc>
                <a:spcPts val="1950"/>
              </a:lnSpc>
              <a:spcAft>
                <a:spcPts val="601"/>
              </a:spcAft>
              <a:buNone/>
            </a:pPr>
            <a:r>
              <a:rPr b="1" lang="en-US" sz="1300" spc="-1" strike="noStrike">
                <a:solidFill>
                  <a:srgbClr val="444444"/>
                </a:solidFill>
                <a:latin typeface="Calibri"/>
              </a:rPr>
              <a:t>2. </a:t>
            </a:r>
            <a:r>
              <a:rPr b="0" lang="zh-CN" sz="1300" spc="-1" strike="noStrike">
                <a:solidFill>
                  <a:srgbClr val="444444"/>
                </a:solidFill>
                <a:latin typeface="Calibri"/>
              </a:rPr>
              <a:t>单一 </a:t>
            </a:r>
            <a:r>
              <a:rPr b="0" lang="en-US" sz="1300" spc="-1" strike="noStrike">
                <a:solidFill>
                  <a:srgbClr val="444444"/>
                </a:solidFill>
                <a:latin typeface="Calibri"/>
              </a:rPr>
              <a:t>chromaScale </a:t>
            </a:r>
            <a:r>
              <a:rPr b="0" lang="zh-CN" sz="1300" spc="-1" strike="noStrike">
                <a:solidFill>
                  <a:srgbClr val="444444"/>
                </a:solidFill>
                <a:latin typeface="Calibri"/>
              </a:rPr>
              <a:t>无法补偿 </a:t>
            </a:r>
            <a:r>
              <a:rPr b="0" lang="en-US" sz="1300" spc="-1" strike="noStrike">
                <a:solidFill>
                  <a:srgbClr val="444444"/>
                </a:solidFill>
                <a:latin typeface="Calibri"/>
              </a:rPr>
              <a:t>Hunt Effect </a:t>
            </a:r>
            <a:r>
              <a:rPr b="0" lang="zh-CN" sz="1300" spc="-1" strike="noStrike">
                <a:solidFill>
                  <a:srgbClr val="444444"/>
                </a:solidFill>
                <a:latin typeface="Calibri"/>
              </a:rPr>
              <a:t>的色调依赖性（绿色最大、黄色最小）</a:t>
            </a:r>
            <a:endParaRPr b="0" lang="en-US" sz="1300" spc="-1" strike="noStrike">
              <a:latin typeface="Arial"/>
            </a:endParaRPr>
          </a:p>
          <a:p>
            <a:pPr>
              <a:lnSpc>
                <a:spcPts val="1950"/>
              </a:lnSpc>
              <a:spcAft>
                <a:spcPts val="601"/>
              </a:spcAft>
              <a:buNone/>
            </a:pPr>
            <a:r>
              <a:rPr b="1" lang="en-US" sz="1300" spc="-1" strike="noStrike">
                <a:solidFill>
                  <a:srgbClr val="444444"/>
                </a:solidFill>
                <a:latin typeface="Calibri"/>
              </a:rPr>
              <a:t>3. </a:t>
            </a:r>
            <a:r>
              <a:rPr b="0" lang="zh-CN" sz="1300" spc="-1" strike="noStrike">
                <a:solidFill>
                  <a:srgbClr val="444444"/>
                </a:solidFill>
                <a:latin typeface="Calibri"/>
              </a:rPr>
              <a:t>初始值 </a:t>
            </a:r>
            <a:r>
              <a:rPr b="0" lang="en-US" sz="1300" spc="-1" strike="noStrike">
                <a:solidFill>
                  <a:srgbClr val="444444"/>
                </a:solidFill>
                <a:latin typeface="Calibri"/>
              </a:rPr>
              <a:t>0.93~0.96 </a:t>
            </a:r>
            <a:r>
              <a:rPr b="0" lang="zh-CN" sz="1300" spc="-1" strike="noStrike">
                <a:solidFill>
                  <a:srgbClr val="444444"/>
                </a:solidFill>
                <a:latin typeface="Calibri"/>
              </a:rPr>
              <a:t>为理论推算，需视觉匹配实验验证</a:t>
            </a:r>
            <a:endParaRPr b="0" lang="en-US" sz="13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Rectangle 2"/>
          <p:cNvSpPr/>
          <p:nvPr/>
        </p:nvSpPr>
        <p:spPr>
          <a:xfrm>
            <a:off x="0" y="0"/>
            <a:ext cx="12191400" cy="1005480"/>
          </a:xfrm>
          <a:prstGeom prst="rect">
            <a:avLst/>
          </a:prstGeom>
          <a:solidFill>
            <a:srgbClr val="1b2a4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94" name="TextBox 1"/>
          <p:cNvSpPr/>
          <p:nvPr/>
        </p:nvSpPr>
        <p:spPr>
          <a:xfrm>
            <a:off x="548640" y="137160"/>
            <a:ext cx="9143640" cy="58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ts val="3900"/>
              </a:lnSpc>
              <a:buNone/>
            </a:pPr>
            <a:r>
              <a:rPr b="1" lang="zh-CN" sz="3000" spc="-1" strike="noStrike">
                <a:solidFill>
                  <a:srgbClr val="ffffff"/>
                </a:solidFill>
                <a:latin typeface="Calibri"/>
              </a:rPr>
              <a:t>进阶方案：</a:t>
            </a:r>
            <a:r>
              <a:rPr b="1" lang="en-US" sz="3000" spc="-1" strike="noStrike">
                <a:solidFill>
                  <a:srgbClr val="ffffff"/>
                </a:solidFill>
                <a:latin typeface="Calibri"/>
              </a:rPr>
              <a:t>Hue-dependent chromaScale</a:t>
            </a:r>
            <a:endParaRPr b="0" lang="en-US" sz="3000" spc="-1" strike="noStrike">
              <a:latin typeface="Arial"/>
            </a:endParaRPr>
          </a:p>
        </p:txBody>
      </p:sp>
      <p:sp>
        <p:nvSpPr>
          <p:cNvPr id="95" name="TextBox 20"/>
          <p:cNvSpPr/>
          <p:nvPr/>
        </p:nvSpPr>
        <p:spPr>
          <a:xfrm>
            <a:off x="548640" y="640080"/>
            <a:ext cx="9143640" cy="32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ts val="1820"/>
              </a:lnSpc>
              <a:buNone/>
            </a:pPr>
            <a:r>
              <a:rPr b="0" lang="en-US" sz="1400" spc="-1" strike="noStrike">
                <a:solidFill>
                  <a:srgbClr val="aabbcc"/>
                </a:solidFill>
                <a:latin typeface="Calibri"/>
              </a:rPr>
              <a:t>Section 3.3  —  </a:t>
            </a:r>
            <a:r>
              <a:rPr b="0" lang="zh-CN" sz="1400" spc="-1" strike="noStrike">
                <a:solidFill>
                  <a:srgbClr val="aabbcc"/>
                </a:solidFill>
                <a:latin typeface="Calibri"/>
              </a:rPr>
              <a:t>简单方案效果不佳时的升级路径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96" name="TextBox 21"/>
          <p:cNvSpPr/>
          <p:nvPr/>
        </p:nvSpPr>
        <p:spPr>
          <a:xfrm>
            <a:off x="11247120" y="6400800"/>
            <a:ext cx="731160" cy="271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>
              <a:lnSpc>
                <a:spcPts val="1429"/>
              </a:lnSpc>
              <a:buNone/>
            </a:pPr>
            <a:r>
              <a:rPr b="0" lang="en-US" sz="1100" spc="-1" strike="noStrike">
                <a:solidFill>
                  <a:srgbClr val="999999"/>
                </a:solidFill>
                <a:latin typeface="Calibri"/>
              </a:rPr>
              <a:t>6/7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97" name="TextBox 22"/>
          <p:cNvSpPr/>
          <p:nvPr/>
        </p:nvSpPr>
        <p:spPr>
          <a:xfrm>
            <a:off x="548640" y="1188720"/>
            <a:ext cx="10972440" cy="45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ts val="2860"/>
              </a:lnSpc>
              <a:buNone/>
            </a:pPr>
            <a:r>
              <a:rPr b="1" lang="zh-CN" sz="2200" spc="-1" strike="noStrike">
                <a:solidFill>
                  <a:srgbClr val="1b2a4a"/>
                </a:solidFill>
                <a:latin typeface="Calibri"/>
              </a:rPr>
              <a:t>为什么需要进阶方案？</a:t>
            </a:r>
            <a:endParaRPr b="0" lang="en-US" sz="2200" spc="-1" strike="noStrike">
              <a:latin typeface="Arial"/>
            </a:endParaRPr>
          </a:p>
        </p:txBody>
      </p:sp>
      <p:sp>
        <p:nvSpPr>
          <p:cNvPr id="98" name="TextBox 23"/>
          <p:cNvSpPr/>
          <p:nvPr/>
        </p:nvSpPr>
        <p:spPr>
          <a:xfrm>
            <a:off x="548640" y="1645920"/>
            <a:ext cx="10972440" cy="69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ts val="2100"/>
              </a:lnSpc>
              <a:spcAft>
                <a:spcPts val="601"/>
              </a:spcAft>
              <a:buNone/>
            </a:pPr>
            <a:r>
              <a:rPr b="1" lang="zh-CN" sz="1600" spc="-1" strike="noStrike">
                <a:solidFill>
                  <a:srgbClr val="8b0000"/>
                </a:solidFill>
                <a:latin typeface="Calibri"/>
              </a:rPr>
              <a:t>简单方案限制：</a:t>
            </a:r>
            <a:r>
              <a:rPr b="0" lang="zh-CN" sz="1600" spc="-1" strike="noStrike">
                <a:solidFill>
                  <a:srgbClr val="444444"/>
                </a:solidFill>
                <a:latin typeface="Calibri"/>
              </a:rPr>
              <a:t>单一 </a:t>
            </a:r>
            <a:r>
              <a:rPr b="0" lang="en-US" sz="1600" spc="-1" strike="noStrike">
                <a:solidFill>
                  <a:srgbClr val="444444"/>
                </a:solidFill>
                <a:latin typeface="Calibri"/>
              </a:rPr>
              <a:t>chromaScale </a:t>
            </a:r>
            <a:r>
              <a:rPr b="0" lang="zh-CN" sz="1600" spc="-1" strike="noStrike">
                <a:solidFill>
                  <a:srgbClr val="444444"/>
                </a:solidFill>
                <a:latin typeface="Calibri"/>
              </a:rPr>
              <a:t>对所有像素均匀缩放，无法精确补偿 </a:t>
            </a:r>
            <a:r>
              <a:rPr b="0" lang="en-US" sz="1600" spc="-1" strike="noStrike">
                <a:solidFill>
                  <a:srgbClr val="444444"/>
                </a:solidFill>
                <a:latin typeface="Calibri"/>
              </a:rPr>
              <a:t>Hunt Effect </a:t>
            </a:r>
            <a:r>
              <a:rPr b="0" lang="zh-CN" sz="1600" spc="-1" strike="noStrike">
                <a:solidFill>
                  <a:srgbClr val="444444"/>
                </a:solidFill>
                <a:latin typeface="Calibri"/>
              </a:rPr>
              <a:t>的色调依赖性</a:t>
            </a:r>
            <a:endParaRPr b="0" lang="en-US" sz="1600" spc="-1" strike="noStrike">
              <a:latin typeface="Arial"/>
            </a:endParaRPr>
          </a:p>
          <a:p>
            <a:pPr>
              <a:lnSpc>
                <a:spcPts val="2100"/>
              </a:lnSpc>
              <a:spcAft>
                <a:spcPts val="601"/>
              </a:spcAft>
              <a:buNone/>
            </a:pPr>
            <a:r>
              <a:rPr b="1" lang="en-US" sz="1400" spc="-1" strike="noStrike">
                <a:solidFill>
                  <a:srgbClr val="2e5e8e"/>
                </a:solidFill>
                <a:latin typeface="Calibri"/>
              </a:rPr>
              <a:t>Kawashima </a:t>
            </a:r>
            <a:r>
              <a:rPr b="1" lang="zh-CN" sz="1400" spc="-1" strike="noStrike">
                <a:solidFill>
                  <a:srgbClr val="2e5e8e"/>
                </a:solidFill>
                <a:latin typeface="Calibri"/>
              </a:rPr>
              <a:t>论文数据：</a:t>
            </a:r>
            <a:r>
              <a:rPr b="0" lang="zh-CN" sz="1400" spc="-1" strike="noStrike">
                <a:solidFill>
                  <a:srgbClr val="444444"/>
                </a:solidFill>
                <a:latin typeface="Calibri"/>
              </a:rPr>
              <a:t>绿色方向的 </a:t>
            </a:r>
            <a:r>
              <a:rPr b="0" lang="en-US" sz="1400" spc="-1" strike="noStrike">
                <a:solidFill>
                  <a:srgbClr val="444444"/>
                </a:solidFill>
                <a:latin typeface="Calibri"/>
              </a:rPr>
              <a:t>Hunt Effect </a:t>
            </a:r>
            <a:r>
              <a:rPr b="0" lang="zh-CN" sz="1400" spc="-1" strike="noStrike">
                <a:solidFill>
                  <a:srgbClr val="444444"/>
                </a:solidFill>
                <a:latin typeface="Calibri"/>
              </a:rPr>
              <a:t>最大，黄色方向最小 → 需要按 </a:t>
            </a:r>
            <a:r>
              <a:rPr b="0" lang="en-US" sz="1400" spc="-1" strike="noStrike">
                <a:solidFill>
                  <a:srgbClr val="444444"/>
                </a:solidFill>
                <a:latin typeface="Calibri"/>
              </a:rPr>
              <a:t>hue </a:t>
            </a:r>
            <a:r>
              <a:rPr b="0" lang="zh-CN" sz="1400" spc="-1" strike="noStrike">
                <a:solidFill>
                  <a:srgbClr val="444444"/>
                </a:solidFill>
                <a:latin typeface="Calibri"/>
              </a:rPr>
              <a:t>分别补偿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99" name="Rectangle 3"/>
          <p:cNvSpPr/>
          <p:nvPr/>
        </p:nvSpPr>
        <p:spPr>
          <a:xfrm>
            <a:off x="548640" y="2377440"/>
            <a:ext cx="10972440" cy="25200"/>
          </a:xfrm>
          <a:prstGeom prst="rect">
            <a:avLst/>
          </a:prstGeom>
          <a:solidFill>
            <a:srgbClr val="ddddd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00" name="TextBox 24"/>
          <p:cNvSpPr/>
          <p:nvPr/>
        </p:nvSpPr>
        <p:spPr>
          <a:xfrm>
            <a:off x="548640" y="2560320"/>
            <a:ext cx="5486040" cy="41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ts val="2599"/>
              </a:lnSpc>
              <a:buNone/>
            </a:pPr>
            <a:r>
              <a:rPr b="1" lang="zh-CN" sz="2000" spc="-1" strike="noStrike">
                <a:solidFill>
                  <a:srgbClr val="1b2a4a"/>
                </a:solidFill>
                <a:latin typeface="Calibri"/>
              </a:rPr>
              <a:t>方案原理</a:t>
            </a:r>
            <a:endParaRPr b="0" lang="en-US" sz="2000" spc="-1" strike="noStrike">
              <a:latin typeface="Arial"/>
            </a:endParaRPr>
          </a:p>
        </p:txBody>
      </p:sp>
      <p:pic>
        <p:nvPicPr>
          <p:cNvPr id="101" name="Picture 1" descr="image.png"/>
          <p:cNvPicPr/>
          <p:nvPr/>
        </p:nvPicPr>
        <p:blipFill>
          <a:blip r:embed="rId1"/>
          <a:stretch/>
        </p:blipFill>
        <p:spPr>
          <a:xfrm>
            <a:off x="548640" y="3017520"/>
            <a:ext cx="5486040" cy="954360"/>
          </a:xfrm>
          <a:prstGeom prst="rect">
            <a:avLst/>
          </a:prstGeom>
          <a:ln w="0">
            <a:noFill/>
          </a:ln>
        </p:spPr>
      </p:pic>
      <p:sp>
        <p:nvSpPr>
          <p:cNvPr id="102" name="TextBox 25"/>
          <p:cNvSpPr/>
          <p:nvPr/>
        </p:nvSpPr>
        <p:spPr>
          <a:xfrm>
            <a:off x="548640" y="3657600"/>
            <a:ext cx="5486040" cy="58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ts val="1959"/>
              </a:lnSpc>
              <a:spcAft>
                <a:spcPts val="601"/>
              </a:spcAft>
              <a:buNone/>
            </a:pPr>
            <a:r>
              <a:rPr b="0" lang="en-US" sz="1400" spc="-1" strike="noStrike">
                <a:solidFill>
                  <a:srgbClr val="2e5e8e"/>
                </a:solidFill>
                <a:latin typeface="Calibri"/>
              </a:rPr>
              <a:t>$h$ = chrominance hue angle</a:t>
            </a:r>
            <a:r>
              <a:rPr b="0" lang="zh-CN" sz="1400" spc="-1" strike="noStrike">
                <a:solidFill>
                  <a:srgbClr val="444444"/>
                </a:solidFill>
                <a:latin typeface="Calibri"/>
              </a:rPr>
              <a:t>（从 </a:t>
            </a:r>
            <a:r>
              <a:rPr b="0" lang="en-US" sz="1400" spc="-1" strike="noStrike">
                <a:solidFill>
                  <a:srgbClr val="444444"/>
                </a:solidFill>
                <a:latin typeface="Calibri"/>
              </a:rPr>
              <a:t>blended </a:t>
            </a:r>
            <a:r>
              <a:rPr b="0" lang="zh-CN" sz="1400" spc="-1" strike="noStrike">
                <a:solidFill>
                  <a:srgbClr val="444444"/>
                </a:solidFill>
                <a:latin typeface="Calibri"/>
              </a:rPr>
              <a:t>的色差信号计算）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103" name="TextBox 26"/>
          <p:cNvSpPr/>
          <p:nvPr/>
        </p:nvSpPr>
        <p:spPr>
          <a:xfrm>
            <a:off x="548640" y="3977640"/>
            <a:ext cx="5486040" cy="33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ts val="1950"/>
              </a:lnSpc>
              <a:buNone/>
            </a:pPr>
            <a:r>
              <a:rPr b="1" lang="zh-CN" sz="1500" spc="-1" strike="noStrike">
                <a:solidFill>
                  <a:srgbClr val="1b2a4a"/>
                </a:solidFill>
                <a:latin typeface="Calibri"/>
              </a:rPr>
              <a:t>确定 </a:t>
            </a:r>
            <a:r>
              <a:rPr b="1" lang="en-US" sz="1500" spc="-1" strike="noStrike">
                <a:solidFill>
                  <a:srgbClr val="1b2a4a"/>
                </a:solidFill>
                <a:latin typeface="Calibri"/>
              </a:rPr>
              <a:t>chromaScale(h) </a:t>
            </a:r>
            <a:r>
              <a:rPr b="1" lang="zh-CN" sz="1500" spc="-1" strike="noStrike">
                <a:solidFill>
                  <a:srgbClr val="1b2a4a"/>
                </a:solidFill>
                <a:latin typeface="Calibri"/>
              </a:rPr>
              <a:t>曲线：</a:t>
            </a:r>
            <a:endParaRPr b="0" lang="en-US" sz="1500" spc="-1" strike="noStrike">
              <a:latin typeface="Arial"/>
            </a:endParaRPr>
          </a:p>
        </p:txBody>
      </p:sp>
      <p:pic>
        <p:nvPicPr>
          <p:cNvPr id="104" name="Picture 2" descr="image.png"/>
          <p:cNvPicPr/>
          <p:nvPr/>
        </p:nvPicPr>
        <p:blipFill>
          <a:blip r:embed="rId2"/>
          <a:stretch/>
        </p:blipFill>
        <p:spPr>
          <a:xfrm>
            <a:off x="548640" y="4297680"/>
            <a:ext cx="3657240" cy="639720"/>
          </a:xfrm>
          <a:prstGeom prst="rect">
            <a:avLst/>
          </a:prstGeom>
          <a:ln w="0">
            <a:noFill/>
          </a:ln>
        </p:spPr>
      </p:pic>
      <p:pic>
        <p:nvPicPr>
          <p:cNvPr id="105" name="Picture 3" descr="image.png"/>
          <p:cNvPicPr/>
          <p:nvPr/>
        </p:nvPicPr>
        <p:blipFill>
          <a:blip r:embed="rId3"/>
          <a:stretch/>
        </p:blipFill>
        <p:spPr>
          <a:xfrm>
            <a:off x="548640" y="4846320"/>
            <a:ext cx="4571640" cy="799920"/>
          </a:xfrm>
          <a:prstGeom prst="rect">
            <a:avLst/>
          </a:prstGeom>
          <a:ln w="0">
            <a:noFill/>
          </a:ln>
        </p:spPr>
      </p:pic>
      <p:sp>
        <p:nvSpPr>
          <p:cNvPr id="106" name="TextBox 38"/>
          <p:cNvSpPr/>
          <p:nvPr/>
        </p:nvSpPr>
        <p:spPr>
          <a:xfrm>
            <a:off x="548640" y="5394960"/>
            <a:ext cx="5486040" cy="1486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ts val="1959"/>
              </a:lnSpc>
              <a:spcAft>
                <a:spcPts val="601"/>
              </a:spcAft>
              <a:buNone/>
            </a:pPr>
            <a:r>
              <a:rPr b="0" lang="en-US" sz="1400" spc="-1" strike="noStrike">
                <a:solidFill>
                  <a:srgbClr val="444444"/>
                </a:solidFill>
                <a:latin typeface="Calibri"/>
              </a:rPr>
              <a:t>1. </a:t>
            </a:r>
            <a:r>
              <a:rPr b="0" lang="zh-CN" sz="1400" spc="-1" strike="noStrike">
                <a:solidFill>
                  <a:srgbClr val="444444"/>
                </a:solidFill>
                <a:latin typeface="Calibri"/>
              </a:rPr>
              <a:t>对覆盖 </a:t>
            </a:r>
            <a:r>
              <a:rPr b="0" lang="en-US" sz="1400" spc="-1" strike="noStrike">
                <a:solidFill>
                  <a:srgbClr val="444444"/>
                </a:solidFill>
                <a:latin typeface="Calibri"/>
              </a:rPr>
              <a:t>0°~360° </a:t>
            </a:r>
            <a:r>
              <a:rPr b="0" lang="zh-CN" sz="1400" spc="-1" strike="noStrike">
                <a:solidFill>
                  <a:srgbClr val="444444"/>
                </a:solidFill>
                <a:latin typeface="Calibri"/>
              </a:rPr>
              <a:t>的代表性 </a:t>
            </a:r>
            <a:r>
              <a:rPr b="0" lang="en-US" sz="1400" spc="-1" strike="noStrike">
                <a:solidFill>
                  <a:srgbClr val="444444"/>
                </a:solidFill>
                <a:latin typeface="Calibri"/>
              </a:rPr>
              <a:t>hue</a:t>
            </a:r>
            <a:r>
              <a:rPr b="0" lang="zh-CN" sz="1400" spc="-1" strike="noStrike">
                <a:solidFill>
                  <a:srgbClr val="444444"/>
                </a:solidFill>
                <a:latin typeface="Calibri"/>
              </a:rPr>
              <a:t>，分别在 </a:t>
            </a:r>
            <a:r>
              <a:rPr b="0" lang="en-US" sz="1400" spc="-1" strike="noStrike">
                <a:solidFill>
                  <a:srgbClr val="444444"/>
                </a:solidFill>
                <a:latin typeface="Calibri"/>
              </a:rPr>
              <a:t>SDR/HDR </a:t>
            </a:r>
            <a:r>
              <a:rPr b="0" lang="zh-CN" sz="1400" spc="-1" strike="noStrike">
                <a:solidFill>
                  <a:srgbClr val="444444"/>
                </a:solidFill>
                <a:latin typeface="Calibri"/>
              </a:rPr>
              <a:t>条件下用 </a:t>
            </a:r>
            <a:r>
              <a:rPr b="0" lang="en-US" sz="1400" spc="-1" strike="noStrike">
                <a:solidFill>
                  <a:srgbClr val="444444"/>
                </a:solidFill>
                <a:latin typeface="Calibri"/>
              </a:rPr>
              <a:t>CIECAM02 </a:t>
            </a:r>
            <a:r>
              <a:rPr b="0" lang="zh-CN" sz="1400" spc="-1" strike="noStrike">
                <a:solidFill>
                  <a:srgbClr val="444444"/>
                </a:solidFill>
                <a:latin typeface="Calibri"/>
              </a:rPr>
              <a:t>计算 </a:t>
            </a:r>
            <a:r>
              <a:rPr b="0" lang="en-US" sz="1400" spc="-1" strike="noStrike">
                <a:solidFill>
                  <a:srgbClr val="444444"/>
                </a:solidFill>
                <a:latin typeface="Calibri"/>
              </a:rPr>
              <a:t>r(h)</a:t>
            </a:r>
            <a:endParaRPr b="0" lang="en-US" sz="1400" spc="-1" strike="noStrike">
              <a:latin typeface="Arial"/>
            </a:endParaRPr>
          </a:p>
          <a:p>
            <a:pPr>
              <a:lnSpc>
                <a:spcPts val="1959"/>
              </a:lnSpc>
              <a:spcAft>
                <a:spcPts val="601"/>
              </a:spcAft>
              <a:buNone/>
            </a:pPr>
            <a:r>
              <a:rPr b="0" lang="en-US" sz="1400" spc="-1" strike="noStrike">
                <a:solidFill>
                  <a:srgbClr val="444444"/>
                </a:solidFill>
                <a:latin typeface="Calibri"/>
              </a:rPr>
              <a:t>2. </a:t>
            </a:r>
            <a:r>
              <a:rPr b="0" lang="zh-CN" sz="1400" spc="-1" strike="noStrike">
                <a:solidFill>
                  <a:srgbClr val="444444"/>
                </a:solidFill>
                <a:latin typeface="Calibri"/>
              </a:rPr>
              <a:t>由 </a:t>
            </a:r>
            <a:r>
              <a:rPr b="0" lang="en-US" sz="1400" spc="-1" strike="noStrike">
                <a:solidFill>
                  <a:srgbClr val="444444"/>
                </a:solidFill>
                <a:latin typeface="Calibri"/>
              </a:rPr>
              <a:t>r(h) </a:t>
            </a:r>
            <a:r>
              <a:rPr b="0" lang="zh-CN" sz="1400" spc="-1" strike="noStrike">
                <a:solidFill>
                  <a:srgbClr val="444444"/>
                </a:solidFill>
                <a:latin typeface="Calibri"/>
              </a:rPr>
              <a:t>计算 </a:t>
            </a:r>
            <a:r>
              <a:rPr b="0" lang="en-US" sz="1400" spc="-1" strike="noStrike">
                <a:solidFill>
                  <a:srgbClr val="444444"/>
                </a:solidFill>
                <a:latin typeface="Calibri"/>
              </a:rPr>
              <a:t>chromaScale(h)</a:t>
            </a:r>
            <a:r>
              <a:rPr b="0" lang="zh-CN" sz="1400" spc="-1" strike="noStrike">
                <a:solidFill>
                  <a:srgbClr val="444444"/>
                </a:solidFill>
                <a:latin typeface="Calibri"/>
              </a:rPr>
              <a:t>（</a:t>
            </a:r>
            <a:r>
              <a:rPr b="0" lang="en-US" sz="1400" spc="-1" strike="noStrike">
                <a:solidFill>
                  <a:srgbClr val="444444"/>
                </a:solidFill>
                <a:latin typeface="Calibri"/>
              </a:rPr>
              <a:t>C ≈ t^0.9</a:t>
            </a:r>
            <a:r>
              <a:rPr b="0" lang="zh-CN" sz="1400" spc="-1" strike="noStrike">
                <a:solidFill>
                  <a:srgbClr val="444444"/>
                </a:solidFill>
                <a:latin typeface="Calibri"/>
              </a:rPr>
              <a:t>，指数 </a:t>
            </a:r>
            <a:r>
              <a:rPr b="0" lang="en-US" sz="1400" spc="-1" strike="noStrike">
                <a:solidFill>
                  <a:srgbClr val="444444"/>
                </a:solidFill>
                <a:latin typeface="Calibri"/>
              </a:rPr>
              <a:t>0.9 </a:t>
            </a:r>
            <a:r>
              <a:rPr b="0" lang="zh-CN" sz="1400" spc="-1" strike="noStrike">
                <a:solidFill>
                  <a:srgbClr val="444444"/>
                </a:solidFill>
                <a:latin typeface="Calibri"/>
              </a:rPr>
              <a:t>来自 </a:t>
            </a:r>
            <a:r>
              <a:rPr b="0" lang="en-US" sz="1400" spc="-1" strike="noStrike">
                <a:solidFill>
                  <a:srgbClr val="444444"/>
                </a:solidFill>
                <a:latin typeface="Calibri"/>
              </a:rPr>
              <a:t>CIECAM02</a:t>
            </a:r>
            <a:r>
              <a:rPr b="0" lang="zh-CN" sz="1400" spc="-1" strike="noStrike">
                <a:solidFill>
                  <a:srgbClr val="444444"/>
                </a:solidFill>
                <a:latin typeface="Calibri"/>
              </a:rPr>
              <a:t>）</a:t>
            </a:r>
            <a:endParaRPr b="0" lang="en-US" sz="1400" spc="-1" strike="noStrike">
              <a:latin typeface="Arial"/>
            </a:endParaRPr>
          </a:p>
          <a:p>
            <a:pPr>
              <a:lnSpc>
                <a:spcPts val="1959"/>
              </a:lnSpc>
              <a:spcAft>
                <a:spcPts val="601"/>
              </a:spcAft>
              <a:buNone/>
            </a:pPr>
            <a:r>
              <a:rPr b="0" lang="en-US" sz="1400" spc="-1" strike="noStrike">
                <a:solidFill>
                  <a:srgbClr val="444444"/>
                </a:solidFill>
                <a:latin typeface="Calibri"/>
              </a:rPr>
              <a:t>3. Kawashima </a:t>
            </a:r>
            <a:r>
              <a:rPr b="0" lang="zh-CN" sz="1400" spc="-1" strike="noStrike">
                <a:solidFill>
                  <a:srgbClr val="444444"/>
                </a:solidFill>
                <a:latin typeface="Calibri"/>
              </a:rPr>
              <a:t>数据点 </a:t>
            </a:r>
            <a:r>
              <a:rPr b="0" lang="en-US" sz="1400" spc="-1" strike="noStrike">
                <a:solidFill>
                  <a:srgbClr val="444444"/>
                </a:solidFill>
                <a:latin typeface="Calibri"/>
              </a:rPr>
              <a:t>+ CIECAM02 </a:t>
            </a:r>
            <a:r>
              <a:rPr b="0" lang="zh-CN" sz="1400" spc="-1" strike="noStrike">
                <a:solidFill>
                  <a:srgbClr val="444444"/>
                </a:solidFill>
                <a:latin typeface="Calibri"/>
              </a:rPr>
              <a:t>插值 → 完整曲线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107" name="TextBox 39"/>
          <p:cNvSpPr/>
          <p:nvPr/>
        </p:nvSpPr>
        <p:spPr>
          <a:xfrm>
            <a:off x="6400800" y="2560320"/>
            <a:ext cx="5303160" cy="41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ts val="2599"/>
              </a:lnSpc>
              <a:buNone/>
            </a:pPr>
            <a:r>
              <a:rPr b="1" lang="en-US" sz="2000" spc="-1" strike="noStrike">
                <a:solidFill>
                  <a:srgbClr val="1b2a4a"/>
                </a:solidFill>
                <a:latin typeface="Calibri"/>
              </a:rPr>
              <a:t>Shader </a:t>
            </a:r>
            <a:r>
              <a:rPr b="1" lang="zh-CN" sz="2000" spc="-1" strike="noStrike">
                <a:solidFill>
                  <a:srgbClr val="1b2a4a"/>
                </a:solidFill>
                <a:latin typeface="Calibri"/>
              </a:rPr>
              <a:t>实现思路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108" name="TextBox 40"/>
          <p:cNvSpPr/>
          <p:nvPr/>
        </p:nvSpPr>
        <p:spPr>
          <a:xfrm>
            <a:off x="6400800" y="3017520"/>
            <a:ext cx="5303160" cy="2867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ts val="1599"/>
              </a:lnSpc>
              <a:spcAft>
                <a:spcPts val="99"/>
              </a:spcAft>
              <a:buNone/>
            </a:pPr>
            <a:r>
              <a:rPr b="0" lang="en-US" sz="1200" spc="-1" strike="noStrike">
                <a:solidFill>
                  <a:srgbClr val="444444"/>
                </a:solidFill>
                <a:latin typeface="Consolas"/>
              </a:rPr>
              <a:t>float lum = dot(blended, vec3(0.2126, 0.7152, 0.0722));</a:t>
            </a:r>
            <a:endParaRPr b="0" lang="en-US" sz="1200" spc="-1" strike="noStrike">
              <a:latin typeface="Arial"/>
            </a:endParaRPr>
          </a:p>
          <a:p>
            <a:pPr>
              <a:lnSpc>
                <a:spcPts val="1599"/>
              </a:lnSpc>
              <a:spcAft>
                <a:spcPts val="99"/>
              </a:spcAft>
              <a:buNone/>
            </a:pPr>
            <a:r>
              <a:rPr b="0" lang="en-US" sz="1200" spc="-1" strike="noStrike">
                <a:solidFill>
                  <a:srgbClr val="444444"/>
                </a:solidFill>
                <a:latin typeface="Consolas"/>
              </a:rPr>
              <a:t>vec3 chromatic = blended - vec3(lum);</a:t>
            </a:r>
            <a:endParaRPr b="0" lang="en-US" sz="1200" spc="-1" strike="noStrike">
              <a:latin typeface="Arial"/>
            </a:endParaRPr>
          </a:p>
          <a:p>
            <a:pPr>
              <a:lnSpc>
                <a:spcPts val="1599"/>
              </a:lnSpc>
              <a:spcAft>
                <a:spcPts val="99"/>
              </a:spcAft>
              <a:buNone/>
            </a:pPr>
            <a:endParaRPr b="0" lang="en-US" sz="1200" spc="-1" strike="noStrike">
              <a:latin typeface="Arial"/>
            </a:endParaRPr>
          </a:p>
          <a:p>
            <a:pPr>
              <a:lnSpc>
                <a:spcPts val="1599"/>
              </a:lnSpc>
              <a:spcAft>
                <a:spcPts val="99"/>
              </a:spcAft>
              <a:buNone/>
            </a:pPr>
            <a:r>
              <a:rPr b="0" lang="en-US" sz="1200" spc="-1" strike="noStrike">
                <a:solidFill>
                  <a:srgbClr val="008000"/>
                </a:solidFill>
                <a:latin typeface="Consolas"/>
              </a:rPr>
              <a:t>// Hue estimation from luminance-relative chromatic</a:t>
            </a:r>
            <a:endParaRPr b="0" lang="en-US" sz="1200" spc="-1" strike="noStrike">
              <a:latin typeface="Arial"/>
            </a:endParaRPr>
          </a:p>
          <a:p>
            <a:pPr>
              <a:lnSpc>
                <a:spcPts val="1599"/>
              </a:lnSpc>
              <a:spcAft>
                <a:spcPts val="99"/>
              </a:spcAft>
              <a:buNone/>
            </a:pPr>
            <a:r>
              <a:rPr b="0" lang="en-US" sz="1200" spc="-1" strike="noStrike">
                <a:solidFill>
                  <a:srgbClr val="444444"/>
                </a:solidFill>
                <a:latin typeface="Consolas"/>
              </a:rPr>
              <a:t>float a_s = 0.5 * (chromatic.r - chromatic.b);</a:t>
            </a:r>
            <a:endParaRPr b="0" lang="en-US" sz="1200" spc="-1" strike="noStrike">
              <a:latin typeface="Arial"/>
            </a:endParaRPr>
          </a:p>
          <a:p>
            <a:pPr>
              <a:lnSpc>
                <a:spcPts val="1599"/>
              </a:lnSpc>
              <a:spcAft>
                <a:spcPts val="99"/>
              </a:spcAft>
              <a:buNone/>
            </a:pPr>
            <a:r>
              <a:rPr b="0" lang="en-US" sz="1200" spc="-1" strike="noStrike">
                <a:solidFill>
                  <a:srgbClr val="444444"/>
                </a:solidFill>
                <a:latin typeface="Consolas"/>
              </a:rPr>
              <a:t>float b_s = 0.21 * (2.0*chromatic.g - chromatic.r - chromatic.b);</a:t>
            </a:r>
            <a:endParaRPr b="0" lang="en-US" sz="1200" spc="-1" strike="noStrike">
              <a:latin typeface="Arial"/>
            </a:endParaRPr>
          </a:p>
          <a:p>
            <a:pPr>
              <a:lnSpc>
                <a:spcPts val="1599"/>
              </a:lnSpc>
              <a:spcAft>
                <a:spcPts val="99"/>
              </a:spcAft>
              <a:buNone/>
            </a:pPr>
            <a:r>
              <a:rPr b="0" lang="en-US" sz="1200" spc="-1" strike="noStrike">
                <a:solidFill>
                  <a:srgbClr val="444444"/>
                </a:solidFill>
                <a:latin typeface="Consolas"/>
              </a:rPr>
              <a:t>float h = atan(b_s, a_s);</a:t>
            </a:r>
            <a:endParaRPr b="0" lang="en-US" sz="1200" spc="-1" strike="noStrike">
              <a:latin typeface="Arial"/>
            </a:endParaRPr>
          </a:p>
          <a:p>
            <a:pPr>
              <a:lnSpc>
                <a:spcPts val="1599"/>
              </a:lnSpc>
              <a:spcAft>
                <a:spcPts val="99"/>
              </a:spcAft>
              <a:buNone/>
            </a:pPr>
            <a:endParaRPr b="0" lang="en-US" sz="1200" spc="-1" strike="noStrike">
              <a:latin typeface="Arial"/>
            </a:endParaRPr>
          </a:p>
          <a:p>
            <a:pPr>
              <a:lnSpc>
                <a:spcPts val="1599"/>
              </a:lnSpc>
              <a:spcAft>
                <a:spcPts val="99"/>
              </a:spcAft>
              <a:buNone/>
            </a:pPr>
            <a:r>
              <a:rPr b="0" lang="en-US" sz="1200" spc="-1" strike="noStrike">
                <a:solidFill>
                  <a:srgbClr val="008000"/>
                </a:solidFill>
                <a:latin typeface="Consolas"/>
              </a:rPr>
              <a:t>// Hue-dependent scale: base + sinusoidal modulation</a:t>
            </a:r>
            <a:endParaRPr b="0" lang="en-US" sz="1200" spc="-1" strike="noStrike">
              <a:latin typeface="Arial"/>
            </a:endParaRPr>
          </a:p>
          <a:p>
            <a:pPr>
              <a:lnSpc>
                <a:spcPts val="1599"/>
              </a:lnSpc>
              <a:spcAft>
                <a:spcPts val="99"/>
              </a:spcAft>
              <a:buNone/>
            </a:pPr>
            <a:r>
              <a:rPr b="0" lang="en-US" sz="1200" spc="-1" strike="noStrike">
                <a:solidFill>
                  <a:srgbClr val="444444"/>
                </a:solidFill>
                <a:latin typeface="Consolas"/>
              </a:rPr>
              <a:t>float cs = baseCS + amplitude * cos(h - peakAngle);</a:t>
            </a:r>
            <a:endParaRPr b="0" lang="en-US" sz="1200" spc="-1" strike="noStrike">
              <a:latin typeface="Arial"/>
            </a:endParaRPr>
          </a:p>
          <a:p>
            <a:pPr>
              <a:lnSpc>
                <a:spcPts val="1599"/>
              </a:lnSpc>
              <a:spcAft>
                <a:spcPts val="99"/>
              </a:spcAft>
              <a:buNone/>
            </a:pPr>
            <a:endParaRPr b="0" lang="en-US" sz="1200" spc="-1" strike="noStrike">
              <a:latin typeface="Arial"/>
            </a:endParaRPr>
          </a:p>
          <a:p>
            <a:pPr>
              <a:lnSpc>
                <a:spcPts val="1599"/>
              </a:lnSpc>
              <a:spcAft>
                <a:spcPts val="99"/>
              </a:spcAft>
              <a:buNone/>
            </a:pPr>
            <a:r>
              <a:rPr b="0" lang="en-US" sz="1200" spc="-1" strike="noStrike">
                <a:solidFill>
                  <a:srgbClr val="444444"/>
                </a:solidFill>
                <a:latin typeface="Consolas"/>
              </a:rPr>
              <a:t>vec3 result = vec3(lum) + cs * chromatic;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109" name="TextBox 41"/>
          <p:cNvSpPr/>
          <p:nvPr/>
        </p:nvSpPr>
        <p:spPr>
          <a:xfrm>
            <a:off x="548640" y="5669280"/>
            <a:ext cx="10972440" cy="387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ts val="2341"/>
              </a:lnSpc>
              <a:buNone/>
            </a:pPr>
            <a:r>
              <a:rPr b="1" lang="zh-CN" sz="1800" spc="-1" strike="noStrike">
                <a:solidFill>
                  <a:srgbClr val="1b2a4a"/>
                </a:solidFill>
                <a:latin typeface="Calibri"/>
              </a:rPr>
              <a:t>建议实施路径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110" name="TextBox 42"/>
          <p:cNvSpPr/>
          <p:nvPr/>
        </p:nvSpPr>
        <p:spPr>
          <a:xfrm>
            <a:off x="548640" y="6035040"/>
            <a:ext cx="10972440" cy="623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ts val="2100"/>
              </a:lnSpc>
              <a:spcAft>
                <a:spcPts val="601"/>
              </a:spcAft>
              <a:buNone/>
            </a:pPr>
            <a:r>
              <a:rPr b="1" lang="en-US" sz="1400" spc="-1" strike="noStrike">
                <a:solidFill>
                  <a:srgbClr val="2e5e8e"/>
                </a:solidFill>
                <a:latin typeface="Calibri"/>
              </a:rPr>
              <a:t>Step 1</a:t>
            </a:r>
            <a:r>
              <a:rPr b="1" lang="zh-CN" sz="1400" spc="-1" strike="noStrike">
                <a:solidFill>
                  <a:srgbClr val="2e5e8e"/>
                </a:solidFill>
                <a:latin typeface="Calibri"/>
              </a:rPr>
              <a:t>：</a:t>
            </a:r>
            <a:r>
              <a:rPr b="0" lang="zh-CN" sz="1400" spc="-1" strike="noStrike">
                <a:solidFill>
                  <a:srgbClr val="444444"/>
                </a:solidFill>
                <a:latin typeface="Calibri"/>
              </a:rPr>
              <a:t>先用单一 </a:t>
            </a:r>
            <a:r>
              <a:rPr b="0" lang="en-US" sz="1400" spc="-1" strike="noStrike">
                <a:solidFill>
                  <a:srgbClr val="444444"/>
                </a:solidFill>
                <a:latin typeface="Calibri"/>
              </a:rPr>
              <a:t>chromaScale </a:t>
            </a:r>
            <a:r>
              <a:rPr b="0" lang="zh-CN" sz="1400" spc="-1" strike="noStrike">
                <a:solidFill>
                  <a:srgbClr val="444444"/>
                </a:solidFill>
                <a:latin typeface="Calibri"/>
              </a:rPr>
              <a:t>验证基础效果  →  </a:t>
            </a:r>
            <a:r>
              <a:rPr b="1" lang="en-US" sz="1400" spc="-1" strike="noStrike">
                <a:solidFill>
                  <a:srgbClr val="2e5e8e"/>
                </a:solidFill>
                <a:latin typeface="Calibri"/>
              </a:rPr>
              <a:t>Step 2</a:t>
            </a:r>
            <a:r>
              <a:rPr b="1" lang="zh-CN" sz="1400" spc="-1" strike="noStrike">
                <a:solidFill>
                  <a:srgbClr val="2e5e8e"/>
                </a:solidFill>
                <a:latin typeface="Calibri"/>
              </a:rPr>
              <a:t>：</a:t>
            </a:r>
            <a:r>
              <a:rPr b="0" lang="zh-CN" sz="1400" spc="-1" strike="noStrike">
                <a:solidFill>
                  <a:srgbClr val="444444"/>
                </a:solidFill>
                <a:latin typeface="Calibri"/>
              </a:rPr>
              <a:t>如某些 </a:t>
            </a:r>
            <a:r>
              <a:rPr b="0" lang="en-US" sz="1400" spc="-1" strike="noStrike">
                <a:solidFill>
                  <a:srgbClr val="444444"/>
                </a:solidFill>
                <a:latin typeface="Calibri"/>
              </a:rPr>
              <a:t>hue </a:t>
            </a:r>
            <a:r>
              <a:rPr b="0" lang="zh-CN" sz="1400" spc="-1" strike="noStrike">
                <a:solidFill>
                  <a:srgbClr val="444444"/>
                </a:solidFill>
                <a:latin typeface="Calibri"/>
              </a:rPr>
              <a:t>仍偏彩，升级为 </a:t>
            </a:r>
            <a:r>
              <a:rPr b="0" lang="en-US" sz="1400" spc="-1" strike="noStrike">
                <a:solidFill>
                  <a:srgbClr val="444444"/>
                </a:solidFill>
                <a:latin typeface="Calibri"/>
              </a:rPr>
              <a:t>hue-dependent  →  </a:t>
            </a:r>
            <a:r>
              <a:rPr b="1" lang="en-US" sz="1400" spc="-1" strike="noStrike">
                <a:solidFill>
                  <a:srgbClr val="2e5e8e"/>
                </a:solidFill>
                <a:latin typeface="Calibri"/>
              </a:rPr>
              <a:t>Step 3</a:t>
            </a:r>
            <a:r>
              <a:rPr b="1" lang="zh-CN" sz="1400" spc="-1" strike="noStrike">
                <a:solidFill>
                  <a:srgbClr val="2e5e8e"/>
                </a:solidFill>
                <a:latin typeface="Calibri"/>
              </a:rPr>
              <a:t>：</a:t>
            </a:r>
            <a:r>
              <a:rPr b="0" lang="zh-CN" sz="1400" spc="-1" strike="noStrike">
                <a:solidFill>
                  <a:srgbClr val="444444"/>
                </a:solidFill>
                <a:latin typeface="Calibri"/>
              </a:rPr>
              <a:t>用 </a:t>
            </a:r>
            <a:r>
              <a:rPr b="0" lang="en-US" sz="1400" spc="-1" strike="noStrike">
                <a:solidFill>
                  <a:srgbClr val="444444"/>
                </a:solidFill>
                <a:latin typeface="Calibri"/>
              </a:rPr>
              <a:t>CIECAM02 </a:t>
            </a:r>
            <a:r>
              <a:rPr b="0" lang="zh-CN" sz="1400" spc="-1" strike="noStrike">
                <a:solidFill>
                  <a:srgbClr val="444444"/>
                </a:solidFill>
                <a:latin typeface="Calibri"/>
              </a:rPr>
              <a:t>离线计算生成参考曲线，视觉实验微调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111" name="TextBox 43"/>
          <p:cNvSpPr/>
          <p:nvPr/>
        </p:nvSpPr>
        <p:spPr>
          <a:xfrm>
            <a:off x="548640" y="6400800"/>
            <a:ext cx="10972440" cy="24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i="1" lang="zh-CN" sz="1000" spc="-1" strike="noStrike">
                <a:solidFill>
                  <a:srgbClr val="999999"/>
                </a:solidFill>
                <a:latin typeface="Calibri"/>
              </a:rPr>
              <a:t>来源：</a:t>
            </a:r>
            <a:r>
              <a:rPr b="0" i="1" lang="en-US" sz="1000" spc="-1" strike="noStrike">
                <a:solidFill>
                  <a:srgbClr val="999999"/>
                </a:solidFill>
                <a:latin typeface="Calibri"/>
              </a:rPr>
              <a:t>Kawashima &amp; Ohno, CIE x047:2020 OP01  |  CIECAM02 hue angle h = atan2(b, a)  |  High et al., Color Research &amp; Application, 48(2), 2023</a:t>
            </a:r>
            <a:endParaRPr b="0" lang="en-US" sz="1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55</TotalTime>
  <Application>LibreOffice/7.3.7.2$Linux_X86_64 LibreOffice_project/30$Build-2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/>
  <dc:description>generated using python-pptx</dc:description>
  <dc:language>en-US</dc:language>
  <cp:lastModifiedBy/>
  <dcterms:modified xsi:type="dcterms:W3CDTF">2026-06-17T17:13:11Z</dcterms:modified>
  <cp:revision>2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